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1" r:id="rId2"/>
  </p:sldMasterIdLst>
  <p:notesMasterIdLst>
    <p:notesMasterId r:id="rId20"/>
  </p:notesMasterIdLst>
  <p:sldIdLst>
    <p:sldId id="256" r:id="rId3"/>
    <p:sldId id="263" r:id="rId4"/>
    <p:sldId id="260" r:id="rId5"/>
    <p:sldId id="265" r:id="rId6"/>
    <p:sldId id="270" r:id="rId7"/>
    <p:sldId id="258" r:id="rId8"/>
    <p:sldId id="266" r:id="rId9"/>
    <p:sldId id="271" r:id="rId10"/>
    <p:sldId id="274" r:id="rId11"/>
    <p:sldId id="272" r:id="rId12"/>
    <p:sldId id="275" r:id="rId13"/>
    <p:sldId id="273" r:id="rId14"/>
    <p:sldId id="276" r:id="rId15"/>
    <p:sldId id="277" r:id="rId16"/>
    <p:sldId id="278" r:id="rId17"/>
    <p:sldId id="279" r:id="rId18"/>
    <p:sldId id="28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20"/>
    <p:restoredTop sz="94689"/>
  </p:normalViewPr>
  <p:slideViewPr>
    <p:cSldViewPr snapToGrid="0">
      <p:cViewPr varScale="1">
        <p:scale>
          <a:sx n="83" d="100"/>
          <a:sy n="83" d="100"/>
        </p:scale>
        <p:origin x="609" y="54"/>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AA7AB0-D0F0-F546-81D6-9F1C5F7A43B1}" type="datetimeFigureOut">
              <a:rPr lang="en-US" smtClean="0"/>
              <a:t>4/14/2025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E7A050-95C8-044C-B7B2-F89A972B0E4D}" type="slidenum">
              <a:rPr lang="en-US" smtClean="0"/>
              <a:t>‹#›</a:t>
            </a:fld>
            <a:endParaRPr lang="en-US"/>
          </a:p>
        </p:txBody>
      </p:sp>
    </p:spTree>
    <p:extLst>
      <p:ext uri="{BB962C8B-B14F-4D97-AF65-F5344CB8AC3E}">
        <p14:creationId xmlns:p14="http://schemas.microsoft.com/office/powerpoint/2010/main" val="38178690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2C9D9-FD76-8A86-B75E-CE830D3B0E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BF1DFD-2A03-6B2A-B2CC-3FAE6078C3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4E04F6-EB3E-E96C-3729-51B3B579EAD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4ED3FA8-D59E-9EA8-6074-AF51928AED2F}"/>
              </a:ext>
            </a:extLst>
          </p:cNvPr>
          <p:cNvSpPr>
            <a:spLocks noGrp="1"/>
          </p:cNvSpPr>
          <p:nvPr>
            <p:ph type="sldNum" sz="quarter" idx="5"/>
          </p:nvPr>
        </p:nvSpPr>
        <p:spPr/>
        <p:txBody>
          <a:bodyPr/>
          <a:lstStyle/>
          <a:p>
            <a:fld id="{96E7A050-95C8-044C-B7B2-F89A972B0E4D}" type="slidenum">
              <a:rPr lang="en-US" smtClean="0"/>
              <a:t>2</a:t>
            </a:fld>
            <a:endParaRPr lang="en-US"/>
          </a:p>
        </p:txBody>
      </p:sp>
    </p:spTree>
    <p:extLst>
      <p:ext uri="{BB962C8B-B14F-4D97-AF65-F5344CB8AC3E}">
        <p14:creationId xmlns:p14="http://schemas.microsoft.com/office/powerpoint/2010/main" val="3814375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B0F6F-826B-3740-99E9-0289B04B25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C3F453-C6B0-5BD1-9AC1-D5C297D241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C25242-7FBF-C662-6BF6-8FD9FFDB663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B31F855-8A73-ABF6-7366-1A6EC42A506E}"/>
              </a:ext>
            </a:extLst>
          </p:cNvPr>
          <p:cNvSpPr>
            <a:spLocks noGrp="1"/>
          </p:cNvSpPr>
          <p:nvPr>
            <p:ph type="sldNum" sz="quarter" idx="5"/>
          </p:nvPr>
        </p:nvSpPr>
        <p:spPr/>
        <p:txBody>
          <a:bodyPr/>
          <a:lstStyle/>
          <a:p>
            <a:fld id="{96E7A050-95C8-044C-B7B2-F89A972B0E4D}" type="slidenum">
              <a:rPr lang="en-US" smtClean="0"/>
              <a:t>3</a:t>
            </a:fld>
            <a:endParaRPr lang="en-US"/>
          </a:p>
        </p:txBody>
      </p:sp>
    </p:spTree>
    <p:extLst>
      <p:ext uri="{BB962C8B-B14F-4D97-AF65-F5344CB8AC3E}">
        <p14:creationId xmlns:p14="http://schemas.microsoft.com/office/powerpoint/2010/main" val="32600027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A0B26-9ED6-3A21-0BB0-DAF4FF98B6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846A94-787F-9D51-51EF-CD932D127E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C6C169-79E8-7923-E3C9-252A289107E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EC08D76-E407-F528-FF80-87032376F893}"/>
              </a:ext>
            </a:extLst>
          </p:cNvPr>
          <p:cNvSpPr>
            <a:spLocks noGrp="1"/>
          </p:cNvSpPr>
          <p:nvPr>
            <p:ph type="sldNum" sz="quarter" idx="5"/>
          </p:nvPr>
        </p:nvSpPr>
        <p:spPr/>
        <p:txBody>
          <a:bodyPr/>
          <a:lstStyle/>
          <a:p>
            <a:fld id="{96E7A050-95C8-044C-B7B2-F89A972B0E4D}" type="slidenum">
              <a:rPr lang="en-US" smtClean="0"/>
              <a:t>4</a:t>
            </a:fld>
            <a:endParaRPr lang="en-US"/>
          </a:p>
        </p:txBody>
      </p:sp>
    </p:spTree>
    <p:extLst>
      <p:ext uri="{BB962C8B-B14F-4D97-AF65-F5344CB8AC3E}">
        <p14:creationId xmlns:p14="http://schemas.microsoft.com/office/powerpoint/2010/main" val="21840994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A7DFB-6FD4-C3E3-60E0-A8E24C0675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08CB91-283A-9784-3297-3A71B43BD1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0954F9-AFAB-DD5F-2659-E74A5457E28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02234A5-5FDB-7C7E-6B56-C4EDC1ED9C5F}"/>
              </a:ext>
            </a:extLst>
          </p:cNvPr>
          <p:cNvSpPr>
            <a:spLocks noGrp="1"/>
          </p:cNvSpPr>
          <p:nvPr>
            <p:ph type="sldNum" sz="quarter" idx="5"/>
          </p:nvPr>
        </p:nvSpPr>
        <p:spPr/>
        <p:txBody>
          <a:bodyPr/>
          <a:lstStyle/>
          <a:p>
            <a:fld id="{96E7A050-95C8-044C-B7B2-F89A972B0E4D}" type="slidenum">
              <a:rPr lang="en-US" smtClean="0"/>
              <a:t>5</a:t>
            </a:fld>
            <a:endParaRPr lang="en-US"/>
          </a:p>
        </p:txBody>
      </p:sp>
    </p:spTree>
    <p:extLst>
      <p:ext uri="{BB962C8B-B14F-4D97-AF65-F5344CB8AC3E}">
        <p14:creationId xmlns:p14="http://schemas.microsoft.com/office/powerpoint/2010/main" val="41387279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7A050-95C8-044C-B7B2-F89A972B0E4D}" type="slidenum">
              <a:rPr lang="en-US" smtClean="0"/>
              <a:t>6</a:t>
            </a:fld>
            <a:endParaRPr lang="en-US"/>
          </a:p>
        </p:txBody>
      </p:sp>
    </p:spTree>
    <p:extLst>
      <p:ext uri="{BB962C8B-B14F-4D97-AF65-F5344CB8AC3E}">
        <p14:creationId xmlns:p14="http://schemas.microsoft.com/office/powerpoint/2010/main" val="34983199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64A9D-D9AF-05DB-256E-078BC1379A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1A8C9A-3101-514C-3340-6CB22A714F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18A6E7-74BA-5A8E-3997-ECA007CF45B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1F23F2D-FE99-F6FD-9853-568F48177DCB}"/>
              </a:ext>
            </a:extLst>
          </p:cNvPr>
          <p:cNvSpPr>
            <a:spLocks noGrp="1"/>
          </p:cNvSpPr>
          <p:nvPr>
            <p:ph type="sldNum" sz="quarter" idx="5"/>
          </p:nvPr>
        </p:nvSpPr>
        <p:spPr/>
        <p:txBody>
          <a:bodyPr/>
          <a:lstStyle/>
          <a:p>
            <a:fld id="{96E7A050-95C8-044C-B7B2-F89A972B0E4D}" type="slidenum">
              <a:rPr lang="en-US" smtClean="0"/>
              <a:t>7</a:t>
            </a:fld>
            <a:endParaRPr lang="en-US"/>
          </a:p>
        </p:txBody>
      </p:sp>
    </p:spTree>
    <p:extLst>
      <p:ext uri="{BB962C8B-B14F-4D97-AF65-F5344CB8AC3E}">
        <p14:creationId xmlns:p14="http://schemas.microsoft.com/office/powerpoint/2010/main" val="30956617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E6B88-A8A5-2AA4-9459-29AD90F4AD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B6CD54-AD85-923D-98C6-C84B719B82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3E7C1C-5A3D-4BDA-FF20-78E29B207DD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983A61C-4EBE-1DB2-05F9-417873E5B077}"/>
              </a:ext>
            </a:extLst>
          </p:cNvPr>
          <p:cNvSpPr>
            <a:spLocks noGrp="1"/>
          </p:cNvSpPr>
          <p:nvPr>
            <p:ph type="sldNum" sz="quarter" idx="5"/>
          </p:nvPr>
        </p:nvSpPr>
        <p:spPr/>
        <p:txBody>
          <a:bodyPr/>
          <a:lstStyle/>
          <a:p>
            <a:fld id="{96E7A050-95C8-044C-B7B2-F89A972B0E4D}" type="slidenum">
              <a:rPr lang="en-US" smtClean="0"/>
              <a:t>8</a:t>
            </a:fld>
            <a:endParaRPr lang="en-US"/>
          </a:p>
        </p:txBody>
      </p:sp>
    </p:spTree>
    <p:extLst>
      <p:ext uri="{BB962C8B-B14F-4D97-AF65-F5344CB8AC3E}">
        <p14:creationId xmlns:p14="http://schemas.microsoft.com/office/powerpoint/2010/main" val="9433322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72127-449F-D29B-2896-F4C73DD316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26D9F3-7175-6DAD-FFCA-C965AD35A4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E5B8AE-6B70-FB46-BA14-C22A70F8076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2564A30-A0DC-3F94-41AD-B95725B5CF54}"/>
              </a:ext>
            </a:extLst>
          </p:cNvPr>
          <p:cNvSpPr>
            <a:spLocks noGrp="1"/>
          </p:cNvSpPr>
          <p:nvPr>
            <p:ph type="sldNum" sz="quarter" idx="5"/>
          </p:nvPr>
        </p:nvSpPr>
        <p:spPr/>
        <p:txBody>
          <a:bodyPr/>
          <a:lstStyle/>
          <a:p>
            <a:fld id="{96E7A050-95C8-044C-B7B2-F89A972B0E4D}" type="slidenum">
              <a:rPr lang="en-US" smtClean="0"/>
              <a:t>9</a:t>
            </a:fld>
            <a:endParaRPr lang="en-US"/>
          </a:p>
        </p:txBody>
      </p:sp>
    </p:spTree>
    <p:extLst>
      <p:ext uri="{BB962C8B-B14F-4D97-AF65-F5344CB8AC3E}">
        <p14:creationId xmlns:p14="http://schemas.microsoft.com/office/powerpoint/2010/main" val="7761470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50486-E4E2-EB9E-A90C-C4DB70C2FF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D5C433-C9B2-CA1D-05CF-E7232D7DCD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C72091-C531-C97F-D8E7-59EACE389D4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2BAD2E8-ECA6-7A86-448E-7687CBAD5D22}"/>
              </a:ext>
            </a:extLst>
          </p:cNvPr>
          <p:cNvSpPr>
            <a:spLocks noGrp="1"/>
          </p:cNvSpPr>
          <p:nvPr>
            <p:ph type="sldNum" sz="quarter" idx="5"/>
          </p:nvPr>
        </p:nvSpPr>
        <p:spPr/>
        <p:txBody>
          <a:bodyPr/>
          <a:lstStyle/>
          <a:p>
            <a:fld id="{96E7A050-95C8-044C-B7B2-F89A972B0E4D}" type="slidenum">
              <a:rPr lang="en-US" smtClean="0"/>
              <a:t>10</a:t>
            </a:fld>
            <a:endParaRPr lang="en-US"/>
          </a:p>
        </p:txBody>
      </p:sp>
    </p:spTree>
    <p:extLst>
      <p:ext uri="{BB962C8B-B14F-4D97-AF65-F5344CB8AC3E}">
        <p14:creationId xmlns:p14="http://schemas.microsoft.com/office/powerpoint/2010/main" val="38821113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C5B18-CA16-5B3E-9568-F9B84FE669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0FBD8E-4F77-E8A2-A707-5096B1C48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98A28F-8FFB-2049-7E29-FB9A024A442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04B4349-F51F-5A6D-3392-F8A87B1DFFF6}"/>
              </a:ext>
            </a:extLst>
          </p:cNvPr>
          <p:cNvSpPr>
            <a:spLocks noGrp="1"/>
          </p:cNvSpPr>
          <p:nvPr>
            <p:ph type="sldNum" sz="quarter" idx="5"/>
          </p:nvPr>
        </p:nvSpPr>
        <p:spPr/>
        <p:txBody>
          <a:bodyPr/>
          <a:lstStyle/>
          <a:p>
            <a:fld id="{96E7A050-95C8-044C-B7B2-F89A972B0E4D}" type="slidenum">
              <a:rPr lang="en-US" smtClean="0"/>
              <a:t>11</a:t>
            </a:fld>
            <a:endParaRPr lang="en-US"/>
          </a:p>
        </p:txBody>
      </p:sp>
    </p:spTree>
    <p:extLst>
      <p:ext uri="{BB962C8B-B14F-4D97-AF65-F5344CB8AC3E}">
        <p14:creationId xmlns:p14="http://schemas.microsoft.com/office/powerpoint/2010/main" val="4552250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EBB75-CCEE-CC76-121C-5AB0212067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FE643B-0105-6253-D91C-3FCF7D7DD4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3FDA1E-3EBC-FE9A-D7F9-753B9FCBD5E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A003A0D-6EE5-1A8F-A34A-B1F5F7506F61}"/>
              </a:ext>
            </a:extLst>
          </p:cNvPr>
          <p:cNvSpPr>
            <a:spLocks noGrp="1"/>
          </p:cNvSpPr>
          <p:nvPr>
            <p:ph type="sldNum" sz="quarter" idx="5"/>
          </p:nvPr>
        </p:nvSpPr>
        <p:spPr/>
        <p:txBody>
          <a:bodyPr/>
          <a:lstStyle/>
          <a:p>
            <a:fld id="{96E7A050-95C8-044C-B7B2-F89A972B0E4D}" type="slidenum">
              <a:rPr lang="en-US" smtClean="0"/>
              <a:t>12</a:t>
            </a:fld>
            <a:endParaRPr lang="en-US"/>
          </a:p>
        </p:txBody>
      </p:sp>
    </p:spTree>
    <p:extLst>
      <p:ext uri="{BB962C8B-B14F-4D97-AF65-F5344CB8AC3E}">
        <p14:creationId xmlns:p14="http://schemas.microsoft.com/office/powerpoint/2010/main" val="20450874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E860C-8A21-E065-41D0-0C0CDDD7D2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BA5798-A6F2-ABE3-4BCB-A89FAEFD70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161081-EC86-E2C7-479A-1DC3FEE8059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C5CBDC8-53E1-C72B-BB9A-C3F5455C8F57}"/>
              </a:ext>
            </a:extLst>
          </p:cNvPr>
          <p:cNvSpPr>
            <a:spLocks noGrp="1"/>
          </p:cNvSpPr>
          <p:nvPr>
            <p:ph type="sldNum" sz="quarter" idx="5"/>
          </p:nvPr>
        </p:nvSpPr>
        <p:spPr/>
        <p:txBody>
          <a:bodyPr/>
          <a:lstStyle/>
          <a:p>
            <a:fld id="{96E7A050-95C8-044C-B7B2-F89A972B0E4D}" type="slidenum">
              <a:rPr lang="en-US" smtClean="0"/>
              <a:t>13</a:t>
            </a:fld>
            <a:endParaRPr lang="en-US"/>
          </a:p>
        </p:txBody>
      </p:sp>
    </p:spTree>
    <p:extLst>
      <p:ext uri="{BB962C8B-B14F-4D97-AF65-F5344CB8AC3E}">
        <p14:creationId xmlns:p14="http://schemas.microsoft.com/office/powerpoint/2010/main" val="40870444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BA004-11EA-0F11-A90D-14510B14FB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4D1CE4-5164-472A-2575-6FB259083D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C75327-0A58-3517-66F1-8F30FC55A76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6CA4D2B-9637-3A63-B56E-8B65B898B965}"/>
              </a:ext>
            </a:extLst>
          </p:cNvPr>
          <p:cNvSpPr>
            <a:spLocks noGrp="1"/>
          </p:cNvSpPr>
          <p:nvPr>
            <p:ph type="sldNum" sz="quarter" idx="5"/>
          </p:nvPr>
        </p:nvSpPr>
        <p:spPr/>
        <p:txBody>
          <a:bodyPr/>
          <a:lstStyle/>
          <a:p>
            <a:fld id="{96E7A050-95C8-044C-B7B2-F89A972B0E4D}" type="slidenum">
              <a:rPr lang="en-US" smtClean="0"/>
              <a:t>14</a:t>
            </a:fld>
            <a:endParaRPr lang="en-US"/>
          </a:p>
        </p:txBody>
      </p:sp>
    </p:spTree>
    <p:extLst>
      <p:ext uri="{BB962C8B-B14F-4D97-AF65-F5344CB8AC3E}">
        <p14:creationId xmlns:p14="http://schemas.microsoft.com/office/powerpoint/2010/main" val="6559268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87D34-189C-163E-0C7C-1DD8B09EEE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9B87E3-C760-143B-83A6-85B5144413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C60134-BB79-2435-4B60-B24D3FCCE93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23CA8C1-6477-7FE0-C6FD-54000C9560EA}"/>
              </a:ext>
            </a:extLst>
          </p:cNvPr>
          <p:cNvSpPr>
            <a:spLocks noGrp="1"/>
          </p:cNvSpPr>
          <p:nvPr>
            <p:ph type="sldNum" sz="quarter" idx="5"/>
          </p:nvPr>
        </p:nvSpPr>
        <p:spPr/>
        <p:txBody>
          <a:bodyPr/>
          <a:lstStyle/>
          <a:p>
            <a:fld id="{96E7A050-95C8-044C-B7B2-F89A972B0E4D}" type="slidenum">
              <a:rPr lang="en-US" smtClean="0"/>
              <a:t>15</a:t>
            </a:fld>
            <a:endParaRPr lang="en-US"/>
          </a:p>
        </p:txBody>
      </p:sp>
    </p:spTree>
    <p:extLst>
      <p:ext uri="{BB962C8B-B14F-4D97-AF65-F5344CB8AC3E}">
        <p14:creationId xmlns:p14="http://schemas.microsoft.com/office/powerpoint/2010/main" val="34476858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D6F2B-68D6-9809-0078-7766FEF103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D3B206-1FD9-DF83-3D32-BA6F9FEFFB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8C3E11-BB6A-C1E0-4D48-8F40CB52459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DD823BE-10EF-E99E-FE60-06D9498161DE}"/>
              </a:ext>
            </a:extLst>
          </p:cNvPr>
          <p:cNvSpPr>
            <a:spLocks noGrp="1"/>
          </p:cNvSpPr>
          <p:nvPr>
            <p:ph type="sldNum" sz="quarter" idx="5"/>
          </p:nvPr>
        </p:nvSpPr>
        <p:spPr/>
        <p:txBody>
          <a:bodyPr/>
          <a:lstStyle/>
          <a:p>
            <a:fld id="{96E7A050-95C8-044C-B7B2-F89A972B0E4D}" type="slidenum">
              <a:rPr lang="en-US" smtClean="0"/>
              <a:t>16</a:t>
            </a:fld>
            <a:endParaRPr lang="en-US"/>
          </a:p>
        </p:txBody>
      </p:sp>
    </p:spTree>
    <p:extLst>
      <p:ext uri="{BB962C8B-B14F-4D97-AF65-F5344CB8AC3E}">
        <p14:creationId xmlns:p14="http://schemas.microsoft.com/office/powerpoint/2010/main" val="16979617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A0C03-A138-DC91-289C-D94FB911F4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7514D1-E54F-918E-78C6-56DECBC2F8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4CE292-FC07-85AF-C23A-D9FFB2FBC36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DD05CF5-7DC2-AAEE-C3CE-0463DF6E9D34}"/>
              </a:ext>
            </a:extLst>
          </p:cNvPr>
          <p:cNvSpPr>
            <a:spLocks noGrp="1"/>
          </p:cNvSpPr>
          <p:nvPr>
            <p:ph type="sldNum" sz="quarter" idx="5"/>
          </p:nvPr>
        </p:nvSpPr>
        <p:spPr/>
        <p:txBody>
          <a:bodyPr/>
          <a:lstStyle/>
          <a:p>
            <a:fld id="{96E7A050-95C8-044C-B7B2-F89A972B0E4D}" type="slidenum">
              <a:rPr lang="en-US" smtClean="0"/>
              <a:t>17</a:t>
            </a:fld>
            <a:endParaRPr lang="en-US"/>
          </a:p>
        </p:txBody>
      </p:sp>
    </p:spTree>
    <p:extLst>
      <p:ext uri="{BB962C8B-B14F-4D97-AF65-F5344CB8AC3E}">
        <p14:creationId xmlns:p14="http://schemas.microsoft.com/office/powerpoint/2010/main" val="37235763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83BC6-0BD8-B8B4-2680-8DC03B45BA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ED22091-E02C-4A54-E136-67B18027A4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Picture 7">
            <a:extLst>
              <a:ext uri="{FF2B5EF4-FFF2-40B4-BE49-F238E27FC236}">
                <a16:creationId xmlns:a16="http://schemas.microsoft.com/office/drawing/2014/main" id="{12B3AA04-7DED-EEF4-AF97-19F7075543B5}"/>
              </a:ext>
            </a:extLst>
          </p:cNvPr>
          <p:cNvPicPr>
            <a:picLocks noChangeAspect="1"/>
          </p:cNvPicPr>
          <p:nvPr userDrawn="1"/>
        </p:nvPicPr>
        <p:blipFill>
          <a:blip r:embed="rId2"/>
          <a:stretch>
            <a:fillRect/>
          </a:stretch>
        </p:blipFill>
        <p:spPr>
          <a:xfrm>
            <a:off x="0" y="0"/>
            <a:ext cx="1390650" cy="1390650"/>
          </a:xfrm>
          <a:prstGeom prst="rect">
            <a:avLst/>
          </a:prstGeom>
        </p:spPr>
      </p:pic>
    </p:spTree>
    <p:extLst>
      <p:ext uri="{BB962C8B-B14F-4D97-AF65-F5344CB8AC3E}">
        <p14:creationId xmlns:p14="http://schemas.microsoft.com/office/powerpoint/2010/main" val="437524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7434A-86C9-41EF-571A-3BD4EE9286C8}"/>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07D9A2A9-BABF-F193-71B6-7AC1F806FA98}"/>
              </a:ext>
            </a:extLst>
          </p:cNvPr>
          <p:cNvSpPr>
            <a:spLocks noGrp="1"/>
          </p:cNvSpPr>
          <p:nvPr>
            <p:ph type="dt" sz="half" idx="10"/>
          </p:nvPr>
        </p:nvSpPr>
        <p:spPr/>
        <p:txBody>
          <a:bodyPr/>
          <a:lstStyle/>
          <a:p>
            <a:fld id="{8ADF12DD-4F7F-E94C-A7D1-330E0F5D1B5D}" type="datetimeFigureOut">
              <a:rPr lang="en-US" smtClean="0"/>
              <a:t>4/14/2025</a:t>
            </a:fld>
            <a:endParaRPr lang="en-US"/>
          </a:p>
        </p:txBody>
      </p:sp>
      <p:sp>
        <p:nvSpPr>
          <p:cNvPr id="4" name="Footer Placeholder 3">
            <a:extLst>
              <a:ext uri="{FF2B5EF4-FFF2-40B4-BE49-F238E27FC236}">
                <a16:creationId xmlns:a16="http://schemas.microsoft.com/office/drawing/2014/main" id="{DA589C3F-0B84-D43E-5F8C-4ECB8A3127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AB6FD13-CAAB-FBF0-6519-C065F9E10DEE}"/>
              </a:ext>
            </a:extLst>
          </p:cNvPr>
          <p:cNvSpPr>
            <a:spLocks noGrp="1"/>
          </p:cNvSpPr>
          <p:nvPr>
            <p:ph type="sldNum" sz="quarter" idx="12"/>
          </p:nvPr>
        </p:nvSpPr>
        <p:spPr/>
        <p:txBody>
          <a:bodyPr/>
          <a:lstStyle/>
          <a:p>
            <a:fld id="{8991B6E8-BCBF-7D45-87D6-6BC6CDBD8BB7}" type="slidenum">
              <a:rPr lang="en-US" smtClean="0"/>
              <a:t>‹#›</a:t>
            </a:fld>
            <a:endParaRPr lang="en-US"/>
          </a:p>
        </p:txBody>
      </p:sp>
    </p:spTree>
    <p:extLst>
      <p:ext uri="{BB962C8B-B14F-4D97-AF65-F5344CB8AC3E}">
        <p14:creationId xmlns:p14="http://schemas.microsoft.com/office/powerpoint/2010/main" val="9610633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826C6-50AD-AFE7-3EB6-4905DBACC12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BA4AB9A-5AE3-D1AC-20E4-885251548E9B}"/>
              </a:ext>
            </a:extLst>
          </p:cNvPr>
          <p:cNvSpPr>
            <a:spLocks noGrp="1"/>
          </p:cNvSpPr>
          <p:nvPr>
            <p:ph type="dt" sz="half" idx="10"/>
          </p:nvPr>
        </p:nvSpPr>
        <p:spPr/>
        <p:txBody>
          <a:bodyPr/>
          <a:lstStyle/>
          <a:p>
            <a:fld id="{8ADF12DD-4F7F-E94C-A7D1-330E0F5D1B5D}" type="datetimeFigureOut">
              <a:rPr lang="en-US" smtClean="0"/>
              <a:t>4/14/2025</a:t>
            </a:fld>
            <a:endParaRPr lang="en-US"/>
          </a:p>
        </p:txBody>
      </p:sp>
      <p:sp>
        <p:nvSpPr>
          <p:cNvPr id="4" name="Footer Placeholder 3">
            <a:extLst>
              <a:ext uri="{FF2B5EF4-FFF2-40B4-BE49-F238E27FC236}">
                <a16:creationId xmlns:a16="http://schemas.microsoft.com/office/drawing/2014/main" id="{BF95B70D-6426-8C96-DF97-9227D1090B9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66021E3-B4AF-5427-B6DD-0A729C8A2720}"/>
              </a:ext>
            </a:extLst>
          </p:cNvPr>
          <p:cNvSpPr>
            <a:spLocks noGrp="1"/>
          </p:cNvSpPr>
          <p:nvPr>
            <p:ph type="sldNum" sz="quarter" idx="12"/>
          </p:nvPr>
        </p:nvSpPr>
        <p:spPr/>
        <p:txBody>
          <a:bodyPr/>
          <a:lstStyle/>
          <a:p>
            <a:fld id="{8991B6E8-BCBF-7D45-87D6-6BC6CDBD8BB7}" type="slidenum">
              <a:rPr lang="en-US" smtClean="0"/>
              <a:t>‹#›</a:t>
            </a:fld>
            <a:endParaRPr lang="en-US"/>
          </a:p>
        </p:txBody>
      </p:sp>
    </p:spTree>
    <p:extLst>
      <p:ext uri="{BB962C8B-B14F-4D97-AF65-F5344CB8AC3E}">
        <p14:creationId xmlns:p14="http://schemas.microsoft.com/office/powerpoint/2010/main" val="41133627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73914-B8A4-9E24-E935-242E95FF2B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6B1268A-AB6E-7B2E-FD30-3FD9C5F146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CC5BE5-C09C-88D3-05A8-346A0F940C17}"/>
              </a:ext>
            </a:extLst>
          </p:cNvPr>
          <p:cNvSpPr>
            <a:spLocks noGrp="1"/>
          </p:cNvSpPr>
          <p:nvPr>
            <p:ph type="dt" sz="half" idx="10"/>
          </p:nvPr>
        </p:nvSpPr>
        <p:spPr/>
        <p:txBody>
          <a:bodyPr/>
          <a:lstStyle/>
          <a:p>
            <a:fld id="{8ADF12DD-4F7F-E94C-A7D1-330E0F5D1B5D}" type="datetimeFigureOut">
              <a:rPr lang="en-US" smtClean="0"/>
              <a:t>4/14/2025</a:t>
            </a:fld>
            <a:endParaRPr lang="en-US"/>
          </a:p>
        </p:txBody>
      </p:sp>
      <p:sp>
        <p:nvSpPr>
          <p:cNvPr id="5" name="Footer Placeholder 4">
            <a:extLst>
              <a:ext uri="{FF2B5EF4-FFF2-40B4-BE49-F238E27FC236}">
                <a16:creationId xmlns:a16="http://schemas.microsoft.com/office/drawing/2014/main" id="{857D3E69-78AA-07FD-8435-E281E7B2C8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21E336-A35C-4F5E-1E46-D97A657311FF}"/>
              </a:ext>
            </a:extLst>
          </p:cNvPr>
          <p:cNvSpPr>
            <a:spLocks noGrp="1"/>
          </p:cNvSpPr>
          <p:nvPr>
            <p:ph type="sldNum" sz="quarter" idx="12"/>
          </p:nvPr>
        </p:nvSpPr>
        <p:spPr/>
        <p:txBody>
          <a:bodyPr/>
          <a:lstStyle/>
          <a:p>
            <a:fld id="{8991B6E8-BCBF-7D45-87D6-6BC6CDBD8BB7}" type="slidenum">
              <a:rPr lang="en-US" smtClean="0"/>
              <a:t>‹#›</a:t>
            </a:fld>
            <a:endParaRPr lang="en-US"/>
          </a:p>
        </p:txBody>
      </p:sp>
    </p:spTree>
    <p:extLst>
      <p:ext uri="{BB962C8B-B14F-4D97-AF65-F5344CB8AC3E}">
        <p14:creationId xmlns:p14="http://schemas.microsoft.com/office/powerpoint/2010/main" val="437186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08DE5-485B-D707-6022-C853AD1CC7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46E8D55-3614-2D1E-DB79-4C92839A264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0AE2413-2B16-D3C4-40E6-08C50BDBEBB3}"/>
              </a:ext>
            </a:extLst>
          </p:cNvPr>
          <p:cNvSpPr>
            <a:spLocks noGrp="1"/>
          </p:cNvSpPr>
          <p:nvPr>
            <p:ph type="dt" sz="half" idx="10"/>
          </p:nvPr>
        </p:nvSpPr>
        <p:spPr/>
        <p:txBody>
          <a:bodyPr/>
          <a:lstStyle/>
          <a:p>
            <a:fld id="{8ADF12DD-4F7F-E94C-A7D1-330E0F5D1B5D}" type="datetimeFigureOut">
              <a:rPr lang="en-US" smtClean="0"/>
              <a:t>4/14/2025</a:t>
            </a:fld>
            <a:endParaRPr lang="en-US"/>
          </a:p>
        </p:txBody>
      </p:sp>
      <p:sp>
        <p:nvSpPr>
          <p:cNvPr id="5" name="Footer Placeholder 4">
            <a:extLst>
              <a:ext uri="{FF2B5EF4-FFF2-40B4-BE49-F238E27FC236}">
                <a16:creationId xmlns:a16="http://schemas.microsoft.com/office/drawing/2014/main" id="{620123B4-4B95-DA00-1A9E-53DD9FF4A6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5AE1D6-26FD-8328-E1A8-7BE5056CEF4C}"/>
              </a:ext>
            </a:extLst>
          </p:cNvPr>
          <p:cNvSpPr>
            <a:spLocks noGrp="1"/>
          </p:cNvSpPr>
          <p:nvPr>
            <p:ph type="sldNum" sz="quarter" idx="12"/>
          </p:nvPr>
        </p:nvSpPr>
        <p:spPr/>
        <p:txBody>
          <a:bodyPr/>
          <a:lstStyle/>
          <a:p>
            <a:fld id="{8991B6E8-BCBF-7D45-87D6-6BC6CDBD8BB7}" type="slidenum">
              <a:rPr lang="en-US" smtClean="0"/>
              <a:t>‹#›</a:t>
            </a:fld>
            <a:endParaRPr lang="en-US"/>
          </a:p>
        </p:txBody>
      </p:sp>
    </p:spTree>
    <p:extLst>
      <p:ext uri="{BB962C8B-B14F-4D97-AF65-F5344CB8AC3E}">
        <p14:creationId xmlns:p14="http://schemas.microsoft.com/office/powerpoint/2010/main" val="213886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3C70D-5798-8887-958C-1EA2DC46E4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1ED3342-CE69-8C1F-636D-96D68C3BA3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8C3F826-9727-7886-7DD3-CBC29787ED4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7506788-C3C8-92BF-8EEC-95829D310D95}"/>
              </a:ext>
            </a:extLst>
          </p:cNvPr>
          <p:cNvSpPr>
            <a:spLocks noGrp="1"/>
          </p:cNvSpPr>
          <p:nvPr>
            <p:ph type="dt" sz="half" idx="10"/>
          </p:nvPr>
        </p:nvSpPr>
        <p:spPr/>
        <p:txBody>
          <a:bodyPr/>
          <a:lstStyle/>
          <a:p>
            <a:fld id="{8ADF12DD-4F7F-E94C-A7D1-330E0F5D1B5D}" type="datetimeFigureOut">
              <a:rPr lang="en-US" smtClean="0"/>
              <a:t>4/14/2025</a:t>
            </a:fld>
            <a:endParaRPr lang="en-US"/>
          </a:p>
        </p:txBody>
      </p:sp>
      <p:sp>
        <p:nvSpPr>
          <p:cNvPr id="6" name="Footer Placeholder 5">
            <a:extLst>
              <a:ext uri="{FF2B5EF4-FFF2-40B4-BE49-F238E27FC236}">
                <a16:creationId xmlns:a16="http://schemas.microsoft.com/office/drawing/2014/main" id="{AAEB69C3-4F06-1261-3E67-32ED2ED35C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9A9933-E289-8D2D-5C06-D079B215FBD8}"/>
              </a:ext>
            </a:extLst>
          </p:cNvPr>
          <p:cNvSpPr>
            <a:spLocks noGrp="1"/>
          </p:cNvSpPr>
          <p:nvPr>
            <p:ph type="sldNum" sz="quarter" idx="12"/>
          </p:nvPr>
        </p:nvSpPr>
        <p:spPr/>
        <p:txBody>
          <a:bodyPr/>
          <a:lstStyle/>
          <a:p>
            <a:fld id="{8991B6E8-BCBF-7D45-87D6-6BC6CDBD8BB7}" type="slidenum">
              <a:rPr lang="en-US" smtClean="0"/>
              <a:t>‹#›</a:t>
            </a:fld>
            <a:endParaRPr lang="en-US"/>
          </a:p>
        </p:txBody>
      </p:sp>
    </p:spTree>
    <p:extLst>
      <p:ext uri="{BB962C8B-B14F-4D97-AF65-F5344CB8AC3E}">
        <p14:creationId xmlns:p14="http://schemas.microsoft.com/office/powerpoint/2010/main" val="35524659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78499-EC3C-268D-5528-CB5CF2686D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78BC22F-FC7E-589B-350A-57A1335D1C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1B1EA3D-903D-7E6C-733B-0B15ED2574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95D018B-7016-C3B8-051F-765681748D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8DD12E1-3F62-E34B-5277-23F5335849B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A27C4AB-96BE-7E30-A700-5B9889E78030}"/>
              </a:ext>
            </a:extLst>
          </p:cNvPr>
          <p:cNvSpPr>
            <a:spLocks noGrp="1"/>
          </p:cNvSpPr>
          <p:nvPr>
            <p:ph type="dt" sz="half" idx="10"/>
          </p:nvPr>
        </p:nvSpPr>
        <p:spPr/>
        <p:txBody>
          <a:bodyPr/>
          <a:lstStyle/>
          <a:p>
            <a:fld id="{8ADF12DD-4F7F-E94C-A7D1-330E0F5D1B5D}" type="datetimeFigureOut">
              <a:rPr lang="en-US" smtClean="0"/>
              <a:t>4/14/2025</a:t>
            </a:fld>
            <a:endParaRPr lang="en-US"/>
          </a:p>
        </p:txBody>
      </p:sp>
      <p:sp>
        <p:nvSpPr>
          <p:cNvPr id="8" name="Footer Placeholder 7">
            <a:extLst>
              <a:ext uri="{FF2B5EF4-FFF2-40B4-BE49-F238E27FC236}">
                <a16:creationId xmlns:a16="http://schemas.microsoft.com/office/drawing/2014/main" id="{9DFF4C5A-4115-02D3-28AE-D287E4E900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4E5DFDD-7603-3E97-0780-65DB36D0A467}"/>
              </a:ext>
            </a:extLst>
          </p:cNvPr>
          <p:cNvSpPr>
            <a:spLocks noGrp="1"/>
          </p:cNvSpPr>
          <p:nvPr>
            <p:ph type="sldNum" sz="quarter" idx="12"/>
          </p:nvPr>
        </p:nvSpPr>
        <p:spPr/>
        <p:txBody>
          <a:bodyPr/>
          <a:lstStyle/>
          <a:p>
            <a:fld id="{8991B6E8-BCBF-7D45-87D6-6BC6CDBD8BB7}" type="slidenum">
              <a:rPr lang="en-US" smtClean="0"/>
              <a:t>‹#›</a:t>
            </a:fld>
            <a:endParaRPr lang="en-US"/>
          </a:p>
        </p:txBody>
      </p:sp>
    </p:spTree>
    <p:extLst>
      <p:ext uri="{BB962C8B-B14F-4D97-AF65-F5344CB8AC3E}">
        <p14:creationId xmlns:p14="http://schemas.microsoft.com/office/powerpoint/2010/main" val="21165335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90868-6090-5C82-2116-799CC0A898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7D57DBD-273A-4EF9-627C-C7D7577EDF50}"/>
              </a:ext>
            </a:extLst>
          </p:cNvPr>
          <p:cNvSpPr>
            <a:spLocks noGrp="1"/>
          </p:cNvSpPr>
          <p:nvPr>
            <p:ph type="dt" sz="half" idx="10"/>
          </p:nvPr>
        </p:nvSpPr>
        <p:spPr/>
        <p:txBody>
          <a:bodyPr/>
          <a:lstStyle/>
          <a:p>
            <a:fld id="{8ADF12DD-4F7F-E94C-A7D1-330E0F5D1B5D}" type="datetimeFigureOut">
              <a:rPr lang="en-US" smtClean="0"/>
              <a:t>4/14/2025</a:t>
            </a:fld>
            <a:endParaRPr lang="en-US"/>
          </a:p>
        </p:txBody>
      </p:sp>
      <p:sp>
        <p:nvSpPr>
          <p:cNvPr id="4" name="Footer Placeholder 3">
            <a:extLst>
              <a:ext uri="{FF2B5EF4-FFF2-40B4-BE49-F238E27FC236}">
                <a16:creationId xmlns:a16="http://schemas.microsoft.com/office/drawing/2014/main" id="{EB2B57BA-C94C-3066-41EA-4BF68B8F802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99256E9-EFEA-B451-50D1-7ECD2D459C6B}"/>
              </a:ext>
            </a:extLst>
          </p:cNvPr>
          <p:cNvSpPr>
            <a:spLocks noGrp="1"/>
          </p:cNvSpPr>
          <p:nvPr>
            <p:ph type="sldNum" sz="quarter" idx="12"/>
          </p:nvPr>
        </p:nvSpPr>
        <p:spPr/>
        <p:txBody>
          <a:bodyPr/>
          <a:lstStyle/>
          <a:p>
            <a:fld id="{8991B6E8-BCBF-7D45-87D6-6BC6CDBD8BB7}" type="slidenum">
              <a:rPr lang="en-US" smtClean="0"/>
              <a:t>‹#›</a:t>
            </a:fld>
            <a:endParaRPr lang="en-US"/>
          </a:p>
        </p:txBody>
      </p:sp>
    </p:spTree>
    <p:extLst>
      <p:ext uri="{BB962C8B-B14F-4D97-AF65-F5344CB8AC3E}">
        <p14:creationId xmlns:p14="http://schemas.microsoft.com/office/powerpoint/2010/main" val="42760639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35A86A-6AA8-ADB8-845F-C57AF9960DE4}"/>
              </a:ext>
            </a:extLst>
          </p:cNvPr>
          <p:cNvSpPr>
            <a:spLocks noGrp="1"/>
          </p:cNvSpPr>
          <p:nvPr>
            <p:ph type="dt" sz="half" idx="10"/>
          </p:nvPr>
        </p:nvSpPr>
        <p:spPr/>
        <p:txBody>
          <a:bodyPr/>
          <a:lstStyle/>
          <a:p>
            <a:fld id="{8ADF12DD-4F7F-E94C-A7D1-330E0F5D1B5D}" type="datetimeFigureOut">
              <a:rPr lang="en-US" smtClean="0"/>
              <a:t>4/14/2025</a:t>
            </a:fld>
            <a:endParaRPr lang="en-US"/>
          </a:p>
        </p:txBody>
      </p:sp>
      <p:sp>
        <p:nvSpPr>
          <p:cNvPr id="3" name="Footer Placeholder 2">
            <a:extLst>
              <a:ext uri="{FF2B5EF4-FFF2-40B4-BE49-F238E27FC236}">
                <a16:creationId xmlns:a16="http://schemas.microsoft.com/office/drawing/2014/main" id="{E58FBB0F-20F5-72FD-5F55-4439B1ED9FB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47E50B6-7962-80C0-5F4D-74478197FD56}"/>
              </a:ext>
            </a:extLst>
          </p:cNvPr>
          <p:cNvSpPr>
            <a:spLocks noGrp="1"/>
          </p:cNvSpPr>
          <p:nvPr>
            <p:ph type="sldNum" sz="quarter" idx="12"/>
          </p:nvPr>
        </p:nvSpPr>
        <p:spPr/>
        <p:txBody>
          <a:bodyPr/>
          <a:lstStyle/>
          <a:p>
            <a:fld id="{8991B6E8-BCBF-7D45-87D6-6BC6CDBD8BB7}" type="slidenum">
              <a:rPr lang="en-US" smtClean="0"/>
              <a:t>‹#›</a:t>
            </a:fld>
            <a:endParaRPr lang="en-US"/>
          </a:p>
        </p:txBody>
      </p:sp>
    </p:spTree>
    <p:extLst>
      <p:ext uri="{BB962C8B-B14F-4D97-AF65-F5344CB8AC3E}">
        <p14:creationId xmlns:p14="http://schemas.microsoft.com/office/powerpoint/2010/main" val="7365253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18FD4-7C3B-7C04-4D3C-549EDD0FC1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50EB679-C502-A4FA-E334-AB52246D5D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7BCC88-8AA3-601C-34D7-BDA9B6CA83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9BCE3F-37B2-E2CA-2E79-616145816D96}"/>
              </a:ext>
            </a:extLst>
          </p:cNvPr>
          <p:cNvSpPr>
            <a:spLocks noGrp="1"/>
          </p:cNvSpPr>
          <p:nvPr>
            <p:ph type="dt" sz="half" idx="10"/>
          </p:nvPr>
        </p:nvSpPr>
        <p:spPr/>
        <p:txBody>
          <a:bodyPr/>
          <a:lstStyle/>
          <a:p>
            <a:fld id="{8ADF12DD-4F7F-E94C-A7D1-330E0F5D1B5D}" type="datetimeFigureOut">
              <a:rPr lang="en-US" smtClean="0"/>
              <a:t>4/14/2025</a:t>
            </a:fld>
            <a:endParaRPr lang="en-US"/>
          </a:p>
        </p:txBody>
      </p:sp>
      <p:sp>
        <p:nvSpPr>
          <p:cNvPr id="6" name="Footer Placeholder 5">
            <a:extLst>
              <a:ext uri="{FF2B5EF4-FFF2-40B4-BE49-F238E27FC236}">
                <a16:creationId xmlns:a16="http://schemas.microsoft.com/office/drawing/2014/main" id="{33FD98E0-B1F5-0149-9DE5-A41AD51179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D5B9A4-F193-F54A-7963-21C49071F95B}"/>
              </a:ext>
            </a:extLst>
          </p:cNvPr>
          <p:cNvSpPr>
            <a:spLocks noGrp="1"/>
          </p:cNvSpPr>
          <p:nvPr>
            <p:ph type="sldNum" sz="quarter" idx="12"/>
          </p:nvPr>
        </p:nvSpPr>
        <p:spPr/>
        <p:txBody>
          <a:bodyPr/>
          <a:lstStyle/>
          <a:p>
            <a:fld id="{8991B6E8-BCBF-7D45-87D6-6BC6CDBD8BB7}" type="slidenum">
              <a:rPr lang="en-US" smtClean="0"/>
              <a:t>‹#›</a:t>
            </a:fld>
            <a:endParaRPr lang="en-US"/>
          </a:p>
        </p:txBody>
      </p:sp>
    </p:spTree>
    <p:extLst>
      <p:ext uri="{BB962C8B-B14F-4D97-AF65-F5344CB8AC3E}">
        <p14:creationId xmlns:p14="http://schemas.microsoft.com/office/powerpoint/2010/main" val="4068390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AED18-8A06-5A35-3E16-327149F213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D9ED356-30AA-8ACF-1567-A49C241E22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F7C279-35A4-CEA8-E60D-D6ABFD5C6D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71D3D9-D92C-58F7-FA1C-E62208185D40}"/>
              </a:ext>
            </a:extLst>
          </p:cNvPr>
          <p:cNvSpPr>
            <a:spLocks noGrp="1"/>
          </p:cNvSpPr>
          <p:nvPr>
            <p:ph type="dt" sz="half" idx="10"/>
          </p:nvPr>
        </p:nvSpPr>
        <p:spPr/>
        <p:txBody>
          <a:bodyPr/>
          <a:lstStyle/>
          <a:p>
            <a:fld id="{8ADF12DD-4F7F-E94C-A7D1-330E0F5D1B5D}" type="datetimeFigureOut">
              <a:rPr lang="en-US" smtClean="0"/>
              <a:t>4/14/2025</a:t>
            </a:fld>
            <a:endParaRPr lang="en-US"/>
          </a:p>
        </p:txBody>
      </p:sp>
      <p:sp>
        <p:nvSpPr>
          <p:cNvPr id="6" name="Footer Placeholder 5">
            <a:extLst>
              <a:ext uri="{FF2B5EF4-FFF2-40B4-BE49-F238E27FC236}">
                <a16:creationId xmlns:a16="http://schemas.microsoft.com/office/drawing/2014/main" id="{8949C575-EC5B-3EBD-43EA-879F94415B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5C524A-49AC-6A74-ACB8-E4C77E87518B}"/>
              </a:ext>
            </a:extLst>
          </p:cNvPr>
          <p:cNvSpPr>
            <a:spLocks noGrp="1"/>
          </p:cNvSpPr>
          <p:nvPr>
            <p:ph type="sldNum" sz="quarter" idx="12"/>
          </p:nvPr>
        </p:nvSpPr>
        <p:spPr/>
        <p:txBody>
          <a:bodyPr/>
          <a:lstStyle/>
          <a:p>
            <a:fld id="{8991B6E8-BCBF-7D45-87D6-6BC6CDBD8BB7}" type="slidenum">
              <a:rPr lang="en-US" smtClean="0"/>
              <a:t>‹#›</a:t>
            </a:fld>
            <a:endParaRPr lang="en-US"/>
          </a:p>
        </p:txBody>
      </p:sp>
    </p:spTree>
    <p:extLst>
      <p:ext uri="{BB962C8B-B14F-4D97-AF65-F5344CB8AC3E}">
        <p14:creationId xmlns:p14="http://schemas.microsoft.com/office/powerpoint/2010/main" val="40812854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A0C8E-1A37-5AA4-C1AF-A94DB7CA130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AE546BF-4640-1C5B-0631-D99C248CF9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D673C2-0F54-E70A-F6F5-B044ADBAAF61}"/>
              </a:ext>
            </a:extLst>
          </p:cNvPr>
          <p:cNvSpPr>
            <a:spLocks noGrp="1"/>
          </p:cNvSpPr>
          <p:nvPr>
            <p:ph type="dt" sz="half" idx="10"/>
          </p:nvPr>
        </p:nvSpPr>
        <p:spPr/>
        <p:txBody>
          <a:bodyPr/>
          <a:lstStyle/>
          <a:p>
            <a:fld id="{8ADF12DD-4F7F-E94C-A7D1-330E0F5D1B5D}" type="datetimeFigureOut">
              <a:rPr lang="en-US" smtClean="0"/>
              <a:t>4/14/2025</a:t>
            </a:fld>
            <a:endParaRPr lang="en-US"/>
          </a:p>
        </p:txBody>
      </p:sp>
      <p:sp>
        <p:nvSpPr>
          <p:cNvPr id="5" name="Footer Placeholder 4">
            <a:extLst>
              <a:ext uri="{FF2B5EF4-FFF2-40B4-BE49-F238E27FC236}">
                <a16:creationId xmlns:a16="http://schemas.microsoft.com/office/drawing/2014/main" id="{229882DC-4F42-493B-FE26-DE6317554E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1ECF51-330D-11C2-4CF7-554546D7F160}"/>
              </a:ext>
            </a:extLst>
          </p:cNvPr>
          <p:cNvSpPr>
            <a:spLocks noGrp="1"/>
          </p:cNvSpPr>
          <p:nvPr>
            <p:ph type="sldNum" sz="quarter" idx="12"/>
          </p:nvPr>
        </p:nvSpPr>
        <p:spPr/>
        <p:txBody>
          <a:bodyPr/>
          <a:lstStyle/>
          <a:p>
            <a:fld id="{8991B6E8-BCBF-7D45-87D6-6BC6CDBD8BB7}" type="slidenum">
              <a:rPr lang="en-US" smtClean="0"/>
              <a:t>‹#›</a:t>
            </a:fld>
            <a:endParaRPr lang="en-US"/>
          </a:p>
        </p:txBody>
      </p:sp>
    </p:spTree>
    <p:extLst>
      <p:ext uri="{BB962C8B-B14F-4D97-AF65-F5344CB8AC3E}">
        <p14:creationId xmlns:p14="http://schemas.microsoft.com/office/powerpoint/2010/main" val="25532756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DEAAC00-7E7B-816C-7C64-BE91012918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A4C655A-17AA-E04A-CD79-F572CE09653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5BAABF-0AE5-6F76-E814-98C15C4F52B1}"/>
              </a:ext>
            </a:extLst>
          </p:cNvPr>
          <p:cNvSpPr>
            <a:spLocks noGrp="1"/>
          </p:cNvSpPr>
          <p:nvPr>
            <p:ph type="dt" sz="half" idx="10"/>
          </p:nvPr>
        </p:nvSpPr>
        <p:spPr/>
        <p:txBody>
          <a:bodyPr/>
          <a:lstStyle/>
          <a:p>
            <a:fld id="{8ADF12DD-4F7F-E94C-A7D1-330E0F5D1B5D}" type="datetimeFigureOut">
              <a:rPr lang="en-US" smtClean="0"/>
              <a:t>4/14/2025</a:t>
            </a:fld>
            <a:endParaRPr lang="en-US"/>
          </a:p>
        </p:txBody>
      </p:sp>
      <p:sp>
        <p:nvSpPr>
          <p:cNvPr id="5" name="Footer Placeholder 4">
            <a:extLst>
              <a:ext uri="{FF2B5EF4-FFF2-40B4-BE49-F238E27FC236}">
                <a16:creationId xmlns:a16="http://schemas.microsoft.com/office/drawing/2014/main" id="{EF6D281F-B6D4-2DE7-E887-A547BCBB23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DD4F5C-A964-90AE-D975-865F54E21B14}"/>
              </a:ext>
            </a:extLst>
          </p:cNvPr>
          <p:cNvSpPr>
            <a:spLocks noGrp="1"/>
          </p:cNvSpPr>
          <p:nvPr>
            <p:ph type="sldNum" sz="quarter" idx="12"/>
          </p:nvPr>
        </p:nvSpPr>
        <p:spPr/>
        <p:txBody>
          <a:bodyPr/>
          <a:lstStyle/>
          <a:p>
            <a:fld id="{8991B6E8-BCBF-7D45-87D6-6BC6CDBD8BB7}" type="slidenum">
              <a:rPr lang="en-US" smtClean="0"/>
              <a:t>‹#›</a:t>
            </a:fld>
            <a:endParaRPr lang="en-US"/>
          </a:p>
        </p:txBody>
      </p:sp>
    </p:spTree>
    <p:extLst>
      <p:ext uri="{BB962C8B-B14F-4D97-AF65-F5344CB8AC3E}">
        <p14:creationId xmlns:p14="http://schemas.microsoft.com/office/powerpoint/2010/main" val="16490821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A01B6-857F-0E4F-66CC-AFE90B1B6EB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FE94EF9-9F42-AAE3-38EC-28D0C381AD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085057-D441-4237-8AC1-2863CDA83CF8}"/>
              </a:ext>
            </a:extLst>
          </p:cNvPr>
          <p:cNvSpPr>
            <a:spLocks noGrp="1"/>
          </p:cNvSpPr>
          <p:nvPr>
            <p:ph type="dt" sz="half" idx="10"/>
          </p:nvPr>
        </p:nvSpPr>
        <p:spPr/>
        <p:txBody>
          <a:bodyPr/>
          <a:lstStyle/>
          <a:p>
            <a:fld id="{06DF1739-7160-AF4B-8D5F-0B1E42F6AD6F}" type="datetimeFigureOut">
              <a:rPr lang="en-US" smtClean="0"/>
              <a:t>4/14/2025</a:t>
            </a:fld>
            <a:endParaRPr lang="en-US"/>
          </a:p>
        </p:txBody>
      </p:sp>
      <p:sp>
        <p:nvSpPr>
          <p:cNvPr id="5" name="Footer Placeholder 4">
            <a:extLst>
              <a:ext uri="{FF2B5EF4-FFF2-40B4-BE49-F238E27FC236}">
                <a16:creationId xmlns:a16="http://schemas.microsoft.com/office/drawing/2014/main" id="{0B5C2711-7A3E-83FA-B898-44E525EA41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42F326-3FA6-532C-EC7F-C32C6D081819}"/>
              </a:ext>
            </a:extLst>
          </p:cNvPr>
          <p:cNvSpPr>
            <a:spLocks noGrp="1"/>
          </p:cNvSpPr>
          <p:nvPr>
            <p:ph type="sldNum" sz="quarter" idx="12"/>
          </p:nvPr>
        </p:nvSpPr>
        <p:spPr/>
        <p:txBody>
          <a:bodyPr/>
          <a:lstStyle/>
          <a:p>
            <a:fld id="{E16976FB-F9C8-C04C-A57F-A361BEC1EB5B}" type="slidenum">
              <a:rPr lang="en-US" smtClean="0"/>
              <a:t>‹#›</a:t>
            </a:fld>
            <a:endParaRPr lang="en-US"/>
          </a:p>
        </p:txBody>
      </p:sp>
    </p:spTree>
    <p:extLst>
      <p:ext uri="{BB962C8B-B14F-4D97-AF65-F5344CB8AC3E}">
        <p14:creationId xmlns:p14="http://schemas.microsoft.com/office/powerpoint/2010/main" val="35447540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E57F4-6725-8C43-70BC-1E37E117E2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BF8880-D347-08CA-49A1-0D1C2540F8F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42DE14-5C18-4100-E7A2-D0329F62AFBB}"/>
              </a:ext>
            </a:extLst>
          </p:cNvPr>
          <p:cNvSpPr>
            <a:spLocks noGrp="1"/>
          </p:cNvSpPr>
          <p:nvPr>
            <p:ph type="dt" sz="half" idx="10"/>
          </p:nvPr>
        </p:nvSpPr>
        <p:spPr/>
        <p:txBody>
          <a:bodyPr/>
          <a:lstStyle/>
          <a:p>
            <a:fld id="{06DF1739-7160-AF4B-8D5F-0B1E42F6AD6F}" type="datetimeFigureOut">
              <a:rPr lang="en-US" smtClean="0"/>
              <a:t>4/14/2025</a:t>
            </a:fld>
            <a:endParaRPr lang="en-US"/>
          </a:p>
        </p:txBody>
      </p:sp>
      <p:sp>
        <p:nvSpPr>
          <p:cNvPr id="5" name="Footer Placeholder 4">
            <a:extLst>
              <a:ext uri="{FF2B5EF4-FFF2-40B4-BE49-F238E27FC236}">
                <a16:creationId xmlns:a16="http://schemas.microsoft.com/office/drawing/2014/main" id="{79AFC15C-4AE5-1E1F-AECE-AA1178AAF3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8E7CBA-ABC1-6FA8-DFD6-9B1FAFFB64C8}"/>
              </a:ext>
            </a:extLst>
          </p:cNvPr>
          <p:cNvSpPr>
            <a:spLocks noGrp="1"/>
          </p:cNvSpPr>
          <p:nvPr>
            <p:ph type="sldNum" sz="quarter" idx="12"/>
          </p:nvPr>
        </p:nvSpPr>
        <p:spPr/>
        <p:txBody>
          <a:bodyPr/>
          <a:lstStyle/>
          <a:p>
            <a:fld id="{E16976FB-F9C8-C04C-A57F-A361BEC1EB5B}" type="slidenum">
              <a:rPr lang="en-US" smtClean="0"/>
              <a:t>‹#›</a:t>
            </a:fld>
            <a:endParaRPr lang="en-US"/>
          </a:p>
        </p:txBody>
      </p:sp>
    </p:spTree>
    <p:extLst>
      <p:ext uri="{BB962C8B-B14F-4D97-AF65-F5344CB8AC3E}">
        <p14:creationId xmlns:p14="http://schemas.microsoft.com/office/powerpoint/2010/main" val="23044136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96E37-1F61-5312-C285-E36F1FD85B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47AA037-534A-FE95-5902-632191D498C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131F7B-E53E-5AE1-AED8-32C6363628A3}"/>
              </a:ext>
            </a:extLst>
          </p:cNvPr>
          <p:cNvSpPr>
            <a:spLocks noGrp="1"/>
          </p:cNvSpPr>
          <p:nvPr>
            <p:ph type="dt" sz="half" idx="10"/>
          </p:nvPr>
        </p:nvSpPr>
        <p:spPr/>
        <p:txBody>
          <a:bodyPr/>
          <a:lstStyle/>
          <a:p>
            <a:fld id="{06DF1739-7160-AF4B-8D5F-0B1E42F6AD6F}" type="datetimeFigureOut">
              <a:rPr lang="en-US" smtClean="0"/>
              <a:t>4/14/2025</a:t>
            </a:fld>
            <a:endParaRPr lang="en-US"/>
          </a:p>
        </p:txBody>
      </p:sp>
      <p:sp>
        <p:nvSpPr>
          <p:cNvPr id="5" name="Footer Placeholder 4">
            <a:extLst>
              <a:ext uri="{FF2B5EF4-FFF2-40B4-BE49-F238E27FC236}">
                <a16:creationId xmlns:a16="http://schemas.microsoft.com/office/drawing/2014/main" id="{2C1CE79B-C25B-EFE4-DFCF-4F06295789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85A189-19B9-3778-0303-F8001C960A77}"/>
              </a:ext>
            </a:extLst>
          </p:cNvPr>
          <p:cNvSpPr>
            <a:spLocks noGrp="1"/>
          </p:cNvSpPr>
          <p:nvPr>
            <p:ph type="sldNum" sz="quarter" idx="12"/>
          </p:nvPr>
        </p:nvSpPr>
        <p:spPr/>
        <p:txBody>
          <a:bodyPr/>
          <a:lstStyle/>
          <a:p>
            <a:fld id="{E16976FB-F9C8-C04C-A57F-A361BEC1EB5B}" type="slidenum">
              <a:rPr lang="en-US" smtClean="0"/>
              <a:t>‹#›</a:t>
            </a:fld>
            <a:endParaRPr lang="en-US"/>
          </a:p>
        </p:txBody>
      </p:sp>
    </p:spTree>
    <p:extLst>
      <p:ext uri="{BB962C8B-B14F-4D97-AF65-F5344CB8AC3E}">
        <p14:creationId xmlns:p14="http://schemas.microsoft.com/office/powerpoint/2010/main" val="32152885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BB1EA-D204-3D3C-9E0E-25CDFC28FFA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297131F-5E91-E418-BE00-5FA2A9E6A9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BB67645-764C-F468-7744-0B0F2CA598B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36878F2-466D-5CAB-6A83-233719444F4D}"/>
              </a:ext>
            </a:extLst>
          </p:cNvPr>
          <p:cNvSpPr>
            <a:spLocks noGrp="1"/>
          </p:cNvSpPr>
          <p:nvPr>
            <p:ph type="dt" sz="half" idx="10"/>
          </p:nvPr>
        </p:nvSpPr>
        <p:spPr/>
        <p:txBody>
          <a:bodyPr/>
          <a:lstStyle/>
          <a:p>
            <a:fld id="{06DF1739-7160-AF4B-8D5F-0B1E42F6AD6F}" type="datetimeFigureOut">
              <a:rPr lang="en-US" smtClean="0"/>
              <a:t>4/14/2025</a:t>
            </a:fld>
            <a:endParaRPr lang="en-US"/>
          </a:p>
        </p:txBody>
      </p:sp>
      <p:sp>
        <p:nvSpPr>
          <p:cNvPr id="6" name="Footer Placeholder 5">
            <a:extLst>
              <a:ext uri="{FF2B5EF4-FFF2-40B4-BE49-F238E27FC236}">
                <a16:creationId xmlns:a16="http://schemas.microsoft.com/office/drawing/2014/main" id="{E93378F7-3DBC-4F0B-33B2-552B62C602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30D132-31A0-B5D8-D1D5-95FD80F6A385}"/>
              </a:ext>
            </a:extLst>
          </p:cNvPr>
          <p:cNvSpPr>
            <a:spLocks noGrp="1"/>
          </p:cNvSpPr>
          <p:nvPr>
            <p:ph type="sldNum" sz="quarter" idx="12"/>
          </p:nvPr>
        </p:nvSpPr>
        <p:spPr/>
        <p:txBody>
          <a:bodyPr/>
          <a:lstStyle/>
          <a:p>
            <a:fld id="{E16976FB-F9C8-C04C-A57F-A361BEC1EB5B}" type="slidenum">
              <a:rPr lang="en-US" smtClean="0"/>
              <a:t>‹#›</a:t>
            </a:fld>
            <a:endParaRPr lang="en-US"/>
          </a:p>
        </p:txBody>
      </p:sp>
    </p:spTree>
    <p:extLst>
      <p:ext uri="{BB962C8B-B14F-4D97-AF65-F5344CB8AC3E}">
        <p14:creationId xmlns:p14="http://schemas.microsoft.com/office/powerpoint/2010/main" val="20576092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A7268-AA79-6B2C-6155-E33DBD28513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1D1920A-DE32-2E9D-AA95-23C97EA1C2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38F2AAD-62C8-CB3B-4D3C-890E7BC773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C7FA670-E455-24CF-3895-87873A1082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CDE9EF8-EE49-6B9A-1DE6-AA98FF9E6F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B8244CF-9C27-6598-75A7-8D30FC644636}"/>
              </a:ext>
            </a:extLst>
          </p:cNvPr>
          <p:cNvSpPr>
            <a:spLocks noGrp="1"/>
          </p:cNvSpPr>
          <p:nvPr>
            <p:ph type="dt" sz="half" idx="10"/>
          </p:nvPr>
        </p:nvSpPr>
        <p:spPr/>
        <p:txBody>
          <a:bodyPr/>
          <a:lstStyle/>
          <a:p>
            <a:fld id="{06DF1739-7160-AF4B-8D5F-0B1E42F6AD6F}" type="datetimeFigureOut">
              <a:rPr lang="en-US" smtClean="0"/>
              <a:t>4/14/2025</a:t>
            </a:fld>
            <a:endParaRPr lang="en-US"/>
          </a:p>
        </p:txBody>
      </p:sp>
      <p:sp>
        <p:nvSpPr>
          <p:cNvPr id="8" name="Footer Placeholder 7">
            <a:extLst>
              <a:ext uri="{FF2B5EF4-FFF2-40B4-BE49-F238E27FC236}">
                <a16:creationId xmlns:a16="http://schemas.microsoft.com/office/drawing/2014/main" id="{CE3E4DCF-23D4-80BE-84D2-3A14DCC780D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00D5B9E-694F-98BC-E987-01EA79243FE5}"/>
              </a:ext>
            </a:extLst>
          </p:cNvPr>
          <p:cNvSpPr>
            <a:spLocks noGrp="1"/>
          </p:cNvSpPr>
          <p:nvPr>
            <p:ph type="sldNum" sz="quarter" idx="12"/>
          </p:nvPr>
        </p:nvSpPr>
        <p:spPr/>
        <p:txBody>
          <a:bodyPr/>
          <a:lstStyle/>
          <a:p>
            <a:fld id="{E16976FB-F9C8-C04C-A57F-A361BEC1EB5B}" type="slidenum">
              <a:rPr lang="en-US" smtClean="0"/>
              <a:t>‹#›</a:t>
            </a:fld>
            <a:endParaRPr lang="en-US"/>
          </a:p>
        </p:txBody>
      </p:sp>
    </p:spTree>
    <p:extLst>
      <p:ext uri="{BB962C8B-B14F-4D97-AF65-F5344CB8AC3E}">
        <p14:creationId xmlns:p14="http://schemas.microsoft.com/office/powerpoint/2010/main" val="23100382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0934E-0AB6-1718-35AD-F104A81D9B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AEF0A55-1670-EB50-FD96-998EF6BECA87}"/>
              </a:ext>
            </a:extLst>
          </p:cNvPr>
          <p:cNvSpPr>
            <a:spLocks noGrp="1"/>
          </p:cNvSpPr>
          <p:nvPr>
            <p:ph type="dt" sz="half" idx="10"/>
          </p:nvPr>
        </p:nvSpPr>
        <p:spPr/>
        <p:txBody>
          <a:bodyPr/>
          <a:lstStyle/>
          <a:p>
            <a:fld id="{06DF1739-7160-AF4B-8D5F-0B1E42F6AD6F}" type="datetimeFigureOut">
              <a:rPr lang="en-US" smtClean="0"/>
              <a:t>4/14/2025</a:t>
            </a:fld>
            <a:endParaRPr lang="en-US"/>
          </a:p>
        </p:txBody>
      </p:sp>
      <p:sp>
        <p:nvSpPr>
          <p:cNvPr id="4" name="Footer Placeholder 3">
            <a:extLst>
              <a:ext uri="{FF2B5EF4-FFF2-40B4-BE49-F238E27FC236}">
                <a16:creationId xmlns:a16="http://schemas.microsoft.com/office/drawing/2014/main" id="{B6042158-2870-6D3C-8E1A-98CE054ACB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8E83E81-0D5B-F722-F3B3-29BB2075010F}"/>
              </a:ext>
            </a:extLst>
          </p:cNvPr>
          <p:cNvSpPr>
            <a:spLocks noGrp="1"/>
          </p:cNvSpPr>
          <p:nvPr>
            <p:ph type="sldNum" sz="quarter" idx="12"/>
          </p:nvPr>
        </p:nvSpPr>
        <p:spPr/>
        <p:txBody>
          <a:bodyPr/>
          <a:lstStyle/>
          <a:p>
            <a:fld id="{E16976FB-F9C8-C04C-A57F-A361BEC1EB5B}" type="slidenum">
              <a:rPr lang="en-US" smtClean="0"/>
              <a:t>‹#›</a:t>
            </a:fld>
            <a:endParaRPr lang="en-US"/>
          </a:p>
        </p:txBody>
      </p:sp>
    </p:spTree>
    <p:extLst>
      <p:ext uri="{BB962C8B-B14F-4D97-AF65-F5344CB8AC3E}">
        <p14:creationId xmlns:p14="http://schemas.microsoft.com/office/powerpoint/2010/main" val="2971610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C33CEB-599C-0644-67CB-92C4C5E1A362}"/>
              </a:ext>
            </a:extLst>
          </p:cNvPr>
          <p:cNvSpPr>
            <a:spLocks noGrp="1"/>
          </p:cNvSpPr>
          <p:nvPr>
            <p:ph type="dt" sz="half" idx="10"/>
          </p:nvPr>
        </p:nvSpPr>
        <p:spPr/>
        <p:txBody>
          <a:bodyPr/>
          <a:lstStyle/>
          <a:p>
            <a:fld id="{06DF1739-7160-AF4B-8D5F-0B1E42F6AD6F}" type="datetimeFigureOut">
              <a:rPr lang="en-US" smtClean="0"/>
              <a:t>4/14/2025</a:t>
            </a:fld>
            <a:endParaRPr lang="en-US"/>
          </a:p>
        </p:txBody>
      </p:sp>
      <p:sp>
        <p:nvSpPr>
          <p:cNvPr id="3" name="Footer Placeholder 2">
            <a:extLst>
              <a:ext uri="{FF2B5EF4-FFF2-40B4-BE49-F238E27FC236}">
                <a16:creationId xmlns:a16="http://schemas.microsoft.com/office/drawing/2014/main" id="{06937F98-BA02-15C7-E2D9-862BAA72E6F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3415481-9831-7998-6D21-BB3E9A4424C5}"/>
              </a:ext>
            </a:extLst>
          </p:cNvPr>
          <p:cNvSpPr>
            <a:spLocks noGrp="1"/>
          </p:cNvSpPr>
          <p:nvPr>
            <p:ph type="sldNum" sz="quarter" idx="12"/>
          </p:nvPr>
        </p:nvSpPr>
        <p:spPr/>
        <p:txBody>
          <a:bodyPr/>
          <a:lstStyle/>
          <a:p>
            <a:fld id="{E16976FB-F9C8-C04C-A57F-A361BEC1EB5B}" type="slidenum">
              <a:rPr lang="en-US" smtClean="0"/>
              <a:t>‹#›</a:t>
            </a:fld>
            <a:endParaRPr lang="en-US"/>
          </a:p>
        </p:txBody>
      </p:sp>
    </p:spTree>
    <p:extLst>
      <p:ext uri="{BB962C8B-B14F-4D97-AF65-F5344CB8AC3E}">
        <p14:creationId xmlns:p14="http://schemas.microsoft.com/office/powerpoint/2010/main" val="20249800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B2D4D-D8AC-423D-6184-9B3294D9D6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7FFDFC3-5BC8-6B04-94EB-4EC7DD30C9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62ECB79-271E-451C-6DE8-159D482728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51FA25-C778-D5A8-FF00-2000A3A79DBF}"/>
              </a:ext>
            </a:extLst>
          </p:cNvPr>
          <p:cNvSpPr>
            <a:spLocks noGrp="1"/>
          </p:cNvSpPr>
          <p:nvPr>
            <p:ph type="dt" sz="half" idx="10"/>
          </p:nvPr>
        </p:nvSpPr>
        <p:spPr/>
        <p:txBody>
          <a:bodyPr/>
          <a:lstStyle/>
          <a:p>
            <a:fld id="{06DF1739-7160-AF4B-8D5F-0B1E42F6AD6F}" type="datetimeFigureOut">
              <a:rPr lang="en-US" smtClean="0"/>
              <a:t>4/14/2025</a:t>
            </a:fld>
            <a:endParaRPr lang="en-US"/>
          </a:p>
        </p:txBody>
      </p:sp>
      <p:sp>
        <p:nvSpPr>
          <p:cNvPr id="6" name="Footer Placeholder 5">
            <a:extLst>
              <a:ext uri="{FF2B5EF4-FFF2-40B4-BE49-F238E27FC236}">
                <a16:creationId xmlns:a16="http://schemas.microsoft.com/office/drawing/2014/main" id="{8088BE99-4647-DC03-4FDD-52A2C234A9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A458A1-AC4A-1F32-1916-6BA848D2D972}"/>
              </a:ext>
            </a:extLst>
          </p:cNvPr>
          <p:cNvSpPr>
            <a:spLocks noGrp="1"/>
          </p:cNvSpPr>
          <p:nvPr>
            <p:ph type="sldNum" sz="quarter" idx="12"/>
          </p:nvPr>
        </p:nvSpPr>
        <p:spPr/>
        <p:txBody>
          <a:bodyPr/>
          <a:lstStyle/>
          <a:p>
            <a:fld id="{E16976FB-F9C8-C04C-A57F-A361BEC1EB5B}" type="slidenum">
              <a:rPr lang="en-US" smtClean="0"/>
              <a:t>‹#›</a:t>
            </a:fld>
            <a:endParaRPr lang="en-US"/>
          </a:p>
        </p:txBody>
      </p:sp>
    </p:spTree>
    <p:extLst>
      <p:ext uri="{BB962C8B-B14F-4D97-AF65-F5344CB8AC3E}">
        <p14:creationId xmlns:p14="http://schemas.microsoft.com/office/powerpoint/2010/main" val="40211208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67150-6109-C6AD-0034-925FF8EFB9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0FB1E05-7BD9-A2C3-A3A6-0AD4705B04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CD91C91-FC5E-8AD4-6454-7AAC962F34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0AC967-1B00-4169-AEE3-B544F9921599}"/>
              </a:ext>
            </a:extLst>
          </p:cNvPr>
          <p:cNvSpPr>
            <a:spLocks noGrp="1"/>
          </p:cNvSpPr>
          <p:nvPr>
            <p:ph type="dt" sz="half" idx="10"/>
          </p:nvPr>
        </p:nvSpPr>
        <p:spPr/>
        <p:txBody>
          <a:bodyPr/>
          <a:lstStyle/>
          <a:p>
            <a:fld id="{06DF1739-7160-AF4B-8D5F-0B1E42F6AD6F}" type="datetimeFigureOut">
              <a:rPr lang="en-US" smtClean="0"/>
              <a:t>4/14/2025</a:t>
            </a:fld>
            <a:endParaRPr lang="en-US"/>
          </a:p>
        </p:txBody>
      </p:sp>
      <p:sp>
        <p:nvSpPr>
          <p:cNvPr id="6" name="Footer Placeholder 5">
            <a:extLst>
              <a:ext uri="{FF2B5EF4-FFF2-40B4-BE49-F238E27FC236}">
                <a16:creationId xmlns:a16="http://schemas.microsoft.com/office/drawing/2014/main" id="{FB879E82-F9DD-39F8-DEC5-B2CC3FDA7A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CFD971-6E2D-64CC-91E5-A9CEEE2A1D5A}"/>
              </a:ext>
            </a:extLst>
          </p:cNvPr>
          <p:cNvSpPr>
            <a:spLocks noGrp="1"/>
          </p:cNvSpPr>
          <p:nvPr>
            <p:ph type="sldNum" sz="quarter" idx="12"/>
          </p:nvPr>
        </p:nvSpPr>
        <p:spPr/>
        <p:txBody>
          <a:bodyPr/>
          <a:lstStyle/>
          <a:p>
            <a:fld id="{E16976FB-F9C8-C04C-A57F-A361BEC1EB5B}" type="slidenum">
              <a:rPr lang="en-US" smtClean="0"/>
              <a:t>‹#›</a:t>
            </a:fld>
            <a:endParaRPr lang="en-US"/>
          </a:p>
        </p:txBody>
      </p:sp>
    </p:spTree>
    <p:extLst>
      <p:ext uri="{BB962C8B-B14F-4D97-AF65-F5344CB8AC3E}">
        <p14:creationId xmlns:p14="http://schemas.microsoft.com/office/powerpoint/2010/main" val="19764249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AB49E-A97E-96CD-C087-BBBC7011E12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B3E4412-5F61-0A7E-06D5-0AF09696651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998EE6-E4AD-D3C2-120F-1424BCF2A204}"/>
              </a:ext>
            </a:extLst>
          </p:cNvPr>
          <p:cNvSpPr>
            <a:spLocks noGrp="1"/>
          </p:cNvSpPr>
          <p:nvPr>
            <p:ph type="dt" sz="half" idx="10"/>
          </p:nvPr>
        </p:nvSpPr>
        <p:spPr/>
        <p:txBody>
          <a:bodyPr/>
          <a:lstStyle/>
          <a:p>
            <a:fld id="{06DF1739-7160-AF4B-8D5F-0B1E42F6AD6F}" type="datetimeFigureOut">
              <a:rPr lang="en-US" smtClean="0"/>
              <a:t>4/14/2025</a:t>
            </a:fld>
            <a:endParaRPr lang="en-US"/>
          </a:p>
        </p:txBody>
      </p:sp>
      <p:sp>
        <p:nvSpPr>
          <p:cNvPr id="5" name="Footer Placeholder 4">
            <a:extLst>
              <a:ext uri="{FF2B5EF4-FFF2-40B4-BE49-F238E27FC236}">
                <a16:creationId xmlns:a16="http://schemas.microsoft.com/office/drawing/2014/main" id="{4B87C6AB-0421-4B58-049A-E580DC37B8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AC0289-862F-9B77-80DD-D4D06F336861}"/>
              </a:ext>
            </a:extLst>
          </p:cNvPr>
          <p:cNvSpPr>
            <a:spLocks noGrp="1"/>
          </p:cNvSpPr>
          <p:nvPr>
            <p:ph type="sldNum" sz="quarter" idx="12"/>
          </p:nvPr>
        </p:nvSpPr>
        <p:spPr/>
        <p:txBody>
          <a:bodyPr/>
          <a:lstStyle/>
          <a:p>
            <a:fld id="{E16976FB-F9C8-C04C-A57F-A361BEC1EB5B}" type="slidenum">
              <a:rPr lang="en-US" smtClean="0"/>
              <a:t>‹#›</a:t>
            </a:fld>
            <a:endParaRPr lang="en-US"/>
          </a:p>
        </p:txBody>
      </p:sp>
    </p:spTree>
    <p:extLst>
      <p:ext uri="{BB962C8B-B14F-4D97-AF65-F5344CB8AC3E}">
        <p14:creationId xmlns:p14="http://schemas.microsoft.com/office/powerpoint/2010/main" val="7269054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D3B0177-3CA9-8BF1-526C-708096C24AC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C42B712-5939-054F-BFA2-FCCA8BF1004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D8EB4C-C2C3-3DB1-7755-69442FE224BB}"/>
              </a:ext>
            </a:extLst>
          </p:cNvPr>
          <p:cNvSpPr>
            <a:spLocks noGrp="1"/>
          </p:cNvSpPr>
          <p:nvPr>
            <p:ph type="dt" sz="half" idx="10"/>
          </p:nvPr>
        </p:nvSpPr>
        <p:spPr/>
        <p:txBody>
          <a:bodyPr/>
          <a:lstStyle/>
          <a:p>
            <a:fld id="{06DF1739-7160-AF4B-8D5F-0B1E42F6AD6F}" type="datetimeFigureOut">
              <a:rPr lang="en-US" smtClean="0"/>
              <a:t>4/14/2025</a:t>
            </a:fld>
            <a:endParaRPr lang="en-US"/>
          </a:p>
        </p:txBody>
      </p:sp>
      <p:sp>
        <p:nvSpPr>
          <p:cNvPr id="5" name="Footer Placeholder 4">
            <a:extLst>
              <a:ext uri="{FF2B5EF4-FFF2-40B4-BE49-F238E27FC236}">
                <a16:creationId xmlns:a16="http://schemas.microsoft.com/office/drawing/2014/main" id="{78EA224B-37B2-95E8-EB1F-B1058C53EE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27CE54-00FC-59F0-B4FA-40170E5DA1E3}"/>
              </a:ext>
            </a:extLst>
          </p:cNvPr>
          <p:cNvSpPr>
            <a:spLocks noGrp="1"/>
          </p:cNvSpPr>
          <p:nvPr>
            <p:ph type="sldNum" sz="quarter" idx="12"/>
          </p:nvPr>
        </p:nvSpPr>
        <p:spPr/>
        <p:txBody>
          <a:bodyPr/>
          <a:lstStyle/>
          <a:p>
            <a:fld id="{E16976FB-F9C8-C04C-A57F-A361BEC1EB5B}" type="slidenum">
              <a:rPr lang="en-US" smtClean="0"/>
              <a:t>‹#›</a:t>
            </a:fld>
            <a:endParaRPr lang="en-US"/>
          </a:p>
        </p:txBody>
      </p:sp>
    </p:spTree>
    <p:extLst>
      <p:ext uri="{BB962C8B-B14F-4D97-AF65-F5344CB8AC3E}">
        <p14:creationId xmlns:p14="http://schemas.microsoft.com/office/powerpoint/2010/main" val="38174294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B17558-89EC-868E-774A-86D7286E871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64B0766-AF36-24E8-0B04-6D81631626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3CC69D-03AB-F64D-AC58-36F52896C2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ADF12DD-4F7F-E94C-A7D1-330E0F5D1B5D}" type="datetimeFigureOut">
              <a:rPr lang="en-US" smtClean="0"/>
              <a:t>4/14/2025</a:t>
            </a:fld>
            <a:endParaRPr lang="en-US"/>
          </a:p>
        </p:txBody>
      </p:sp>
      <p:sp>
        <p:nvSpPr>
          <p:cNvPr id="5" name="Footer Placeholder 4">
            <a:extLst>
              <a:ext uri="{FF2B5EF4-FFF2-40B4-BE49-F238E27FC236}">
                <a16:creationId xmlns:a16="http://schemas.microsoft.com/office/drawing/2014/main" id="{2C8ACE9D-05DB-4D6A-9485-8BFC28301A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C92516D-7B4D-8544-368F-54006B7A3F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991B6E8-BCBF-7D45-87D6-6BC6CDBD8BB7}" type="slidenum">
              <a:rPr lang="en-US" smtClean="0"/>
              <a:t>‹#›</a:t>
            </a:fld>
            <a:endParaRPr lang="en-US"/>
          </a:p>
        </p:txBody>
      </p:sp>
    </p:spTree>
    <p:extLst>
      <p:ext uri="{BB962C8B-B14F-4D97-AF65-F5344CB8AC3E}">
        <p14:creationId xmlns:p14="http://schemas.microsoft.com/office/powerpoint/2010/main" val="4126280100"/>
      </p:ext>
    </p:extLst>
  </p:cSld>
  <p:clrMap bg1="lt1" tx1="dk1" bg2="lt2" tx2="dk2" accent1="accent1" accent2="accent2" accent3="accent3" accent4="accent4" accent5="accent5" accent6="accent6" hlink="hlink" folHlink="folHlink"/>
  <p:sldLayoutIdLst>
    <p:sldLayoutId id="2147483649" r:id="rId1"/>
    <p:sldLayoutId id="2147483673" r:id="rId2"/>
    <p:sldLayoutId id="2147483660"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04B192-4B57-96AD-F645-9F5933A10E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3A9EE22-DCF7-3FD1-867C-1AED1E9414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3CD92D-48AE-0BBD-5B37-5EB8B7FCFF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DF1739-7160-AF4B-8D5F-0B1E42F6AD6F}" type="datetimeFigureOut">
              <a:rPr lang="en-US" smtClean="0"/>
              <a:t>4/14/2025</a:t>
            </a:fld>
            <a:endParaRPr lang="en-US"/>
          </a:p>
        </p:txBody>
      </p:sp>
      <p:sp>
        <p:nvSpPr>
          <p:cNvPr id="5" name="Footer Placeholder 4">
            <a:extLst>
              <a:ext uri="{FF2B5EF4-FFF2-40B4-BE49-F238E27FC236}">
                <a16:creationId xmlns:a16="http://schemas.microsoft.com/office/drawing/2014/main" id="{B0AAB584-EB8D-6E93-DDBE-C45C993AB8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2653962-9A51-97D0-701F-B019BAA96D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16976FB-F9C8-C04C-A57F-A361BEC1EB5B}" type="slidenum">
              <a:rPr lang="en-US" smtClean="0"/>
              <a:t>‹#›</a:t>
            </a:fld>
            <a:endParaRPr lang="en-US"/>
          </a:p>
        </p:txBody>
      </p:sp>
    </p:spTree>
    <p:extLst>
      <p:ext uri="{BB962C8B-B14F-4D97-AF65-F5344CB8AC3E}">
        <p14:creationId xmlns:p14="http://schemas.microsoft.com/office/powerpoint/2010/main" val="397416760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16.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22.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EDB79-9C94-ED06-3788-935DC5F70A06}"/>
              </a:ext>
            </a:extLst>
          </p:cNvPr>
          <p:cNvSpPr>
            <a:spLocks noGrp="1"/>
          </p:cNvSpPr>
          <p:nvPr>
            <p:ph type="ctrTitle"/>
          </p:nvPr>
        </p:nvSpPr>
        <p:spPr/>
        <p:txBody>
          <a:bodyPr>
            <a:noAutofit/>
          </a:bodyPr>
          <a:lstStyle/>
          <a:p>
            <a:r>
              <a:rPr lang="en-US" sz="2400" i="0" u="none" strike="noStrike" dirty="0">
                <a:solidFill>
                  <a:srgbClr val="000000"/>
                </a:solidFill>
                <a:effectLst/>
                <a:latin typeface="Times New Roman" panose="02020603050405020304" pitchFamily="18" charset="0"/>
                <a:cs typeface="Times New Roman" panose="02020603050405020304" pitchFamily="18" charset="0"/>
              </a:rPr>
              <a:t>Analysis and Evaluation of GPU Utilization During Training of</a:t>
            </a:r>
            <a:br>
              <a:rPr lang="en-US" sz="2400" i="0" u="none" strike="noStrike" dirty="0">
                <a:solidFill>
                  <a:srgbClr val="000000"/>
                </a:solidFill>
                <a:effectLst/>
                <a:latin typeface="Times New Roman" panose="02020603050405020304" pitchFamily="18" charset="0"/>
                <a:cs typeface="Times New Roman" panose="02020603050405020304" pitchFamily="18" charset="0"/>
              </a:rPr>
            </a:br>
            <a:r>
              <a:rPr lang="en-US" sz="2400" i="0" u="none" strike="noStrike" dirty="0">
                <a:solidFill>
                  <a:srgbClr val="000000"/>
                </a:solidFill>
                <a:effectLst/>
                <a:latin typeface="Times New Roman" panose="02020603050405020304" pitchFamily="18" charset="0"/>
                <a:cs typeface="Times New Roman" panose="02020603050405020304" pitchFamily="18" charset="0"/>
              </a:rPr>
              <a:t>Deep-Filter-Net and Wave-U-Net Models for Edge Transfer Learning</a:t>
            </a:r>
            <a:br>
              <a:rPr lang="en-US" sz="1050" b="0" i="0" u="none" strike="noStrike" dirty="0">
                <a:solidFill>
                  <a:srgbClr val="000000"/>
                </a:solidFill>
                <a:effectLst/>
              </a:rPr>
            </a:br>
            <a:endParaRPr lang="en-US" sz="3600" dirty="0"/>
          </a:p>
        </p:txBody>
      </p:sp>
      <p:sp>
        <p:nvSpPr>
          <p:cNvPr id="3" name="Subtitle 2">
            <a:extLst>
              <a:ext uri="{FF2B5EF4-FFF2-40B4-BE49-F238E27FC236}">
                <a16:creationId xmlns:a16="http://schemas.microsoft.com/office/drawing/2014/main" id="{4D17FC32-1825-05C6-DF2B-0E8E75087FF7}"/>
              </a:ext>
            </a:extLst>
          </p:cNvPr>
          <p:cNvSpPr>
            <a:spLocks noGrp="1"/>
          </p:cNvSpPr>
          <p:nvPr>
            <p:ph type="subTitle" idx="1"/>
          </p:nvPr>
        </p:nvSpPr>
        <p:spPr/>
        <p:txBody>
          <a:bodyPr>
            <a:normAutofit/>
          </a:bodyPr>
          <a:lstStyle/>
          <a:p>
            <a:pPr algn="r"/>
            <a:r>
              <a:rPr lang="en-US" dirty="0">
                <a:latin typeface="Times New Roman" panose="02020603050405020304" pitchFamily="18" charset="0"/>
                <a:cs typeface="Times New Roman" panose="02020603050405020304" pitchFamily="18" charset="0"/>
              </a:rPr>
              <a:t>Jashwanth Meganathan</a:t>
            </a:r>
          </a:p>
          <a:p>
            <a:pPr algn="r"/>
            <a:r>
              <a:rPr lang="en-US" dirty="0" err="1">
                <a:latin typeface="Times New Roman" panose="02020603050405020304" pitchFamily="18" charset="0"/>
                <a:cs typeface="Times New Roman" panose="02020603050405020304" pitchFamily="18" charset="0"/>
              </a:rPr>
              <a:t>Kabhilesh</a:t>
            </a:r>
            <a:r>
              <a:rPr lang="en-US" dirty="0">
                <a:latin typeface="Times New Roman" panose="02020603050405020304" pitchFamily="18" charset="0"/>
                <a:cs typeface="Times New Roman" panose="02020603050405020304" pitchFamily="18" charset="0"/>
              </a:rPr>
              <a:t> Giri</a:t>
            </a:r>
          </a:p>
        </p:txBody>
      </p:sp>
    </p:spTree>
    <p:extLst>
      <p:ext uri="{BB962C8B-B14F-4D97-AF65-F5344CB8AC3E}">
        <p14:creationId xmlns:p14="http://schemas.microsoft.com/office/powerpoint/2010/main" val="5934548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A16AE-9C06-D3ED-2FD4-C405F1AD65A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53F7B1B-F675-BCC0-6C69-A0D06470055A}"/>
              </a:ext>
            </a:extLst>
          </p:cNvPr>
          <p:cNvSpPr>
            <a:spLocks noGrp="1"/>
          </p:cNvSpPr>
          <p:nvPr>
            <p:ph type="title"/>
          </p:nvPr>
        </p:nvSpPr>
        <p:spPr>
          <a:xfrm>
            <a:off x="967870" y="212726"/>
            <a:ext cx="10515600" cy="604694"/>
          </a:xfrm>
        </p:spPr>
        <p:txBody>
          <a:bodyPr>
            <a:normAutofit/>
          </a:bodyPr>
          <a:lstStyle/>
          <a:p>
            <a:r>
              <a:rPr lang="en-US" sz="3200" dirty="0">
                <a:latin typeface="Times New Roman" panose="02020603050405020304" pitchFamily="18" charset="0"/>
                <a:cs typeface="Times New Roman" panose="02020603050405020304" pitchFamily="18" charset="0"/>
              </a:rPr>
              <a:t>Preface</a:t>
            </a:r>
          </a:p>
        </p:txBody>
      </p:sp>
      <p:pic>
        <p:nvPicPr>
          <p:cNvPr id="7" name="Content Placeholder 6" descr="A red letter n on a black background&#10;&#10;AI-generated content may be incorrect.">
            <a:extLst>
              <a:ext uri="{FF2B5EF4-FFF2-40B4-BE49-F238E27FC236}">
                <a16:creationId xmlns:a16="http://schemas.microsoft.com/office/drawing/2014/main" id="{AB7A6102-14AF-89A8-608D-0C02354664E8}"/>
              </a:ext>
            </a:extLst>
          </p:cNvPr>
          <p:cNvPicPr>
            <a:picLocks noGrp="1" noChangeAspect="1"/>
          </p:cNvPicPr>
          <p:nvPr>
            <p:ph idx="1"/>
          </p:nvPr>
        </p:nvPicPr>
        <p:blipFill>
          <a:blip r:embed="rId3"/>
          <a:stretch>
            <a:fillRect/>
          </a:stretch>
        </p:blipFill>
        <p:spPr>
          <a:xfrm>
            <a:off x="-94312" y="-92363"/>
            <a:ext cx="1062182" cy="1062182"/>
          </a:xfrm>
        </p:spPr>
      </p:pic>
      <p:sp>
        <p:nvSpPr>
          <p:cNvPr id="10" name="TextBox 9">
            <a:extLst>
              <a:ext uri="{FF2B5EF4-FFF2-40B4-BE49-F238E27FC236}">
                <a16:creationId xmlns:a16="http://schemas.microsoft.com/office/drawing/2014/main" id="{8840FC42-A52D-69D9-230C-78F1D6CCFDCB}"/>
              </a:ext>
            </a:extLst>
          </p:cNvPr>
          <p:cNvSpPr txBox="1"/>
          <p:nvPr/>
        </p:nvSpPr>
        <p:spPr>
          <a:xfrm>
            <a:off x="1619380" y="1470119"/>
            <a:ext cx="9212580" cy="4247317"/>
          </a:xfrm>
          <a:prstGeom prst="rect">
            <a:avLst/>
          </a:prstGeom>
          <a:noFill/>
        </p:spPr>
        <p:txBody>
          <a:bodyPr wrap="square">
            <a:spAutoFit/>
          </a:bodyPr>
          <a:lstStyle/>
          <a:p>
            <a:pPr algn="just">
              <a:buNone/>
            </a:pPr>
            <a:r>
              <a:rPr lang="en-US" b="0" i="0" u="none" strike="noStrike" dirty="0">
                <a:solidFill>
                  <a:srgbClr val="000000"/>
                </a:solidFill>
                <a:effectLst/>
                <a:latin typeface="Times New Roman" panose="02020603050405020304" pitchFamily="18" charset="0"/>
                <a:cs typeface="Times New Roman" panose="02020603050405020304" pitchFamily="18" charset="0"/>
              </a:rPr>
              <a:t>Today's consumers are increasingly seeking Active Noise Cancellation (ANC) in audio devices, driven by their growing reliance on these products for work, education, and entertainment</a:t>
            </a:r>
          </a:p>
          <a:p>
            <a:pPr algn="just">
              <a:buNone/>
            </a:pPr>
            <a:endParaRPr lang="en-US" b="0" i="0" u="none" strike="noStrike" dirty="0">
              <a:solidFill>
                <a:srgbClr val="000000"/>
              </a:solidFill>
              <a:effectLst/>
              <a:latin typeface="Times New Roman" panose="02020603050405020304" pitchFamily="18" charset="0"/>
              <a:cs typeface="Times New Roman" panose="02020603050405020304" pitchFamily="18" charset="0"/>
            </a:endParaRPr>
          </a:p>
          <a:p>
            <a:pPr algn="just">
              <a:buNone/>
            </a:pPr>
            <a:r>
              <a:rPr lang="en-US" b="0" i="0" u="none" strike="noStrike" dirty="0">
                <a:solidFill>
                  <a:srgbClr val="000000"/>
                </a:solidFill>
                <a:effectLst/>
                <a:latin typeface="Times New Roman" panose="02020603050405020304" pitchFamily="18" charset="0"/>
                <a:cs typeface="Times New Roman" panose="02020603050405020304" pitchFamily="18" charset="0"/>
              </a:rPr>
              <a:t>Machine Learning (ML) is essential in developing effective ANC solutions. It involves training algorithms that identify, predict, and eliminate unwanted noise in real-time, enhancing audio clarity for the user. ANC systems actively filter out common everyday noises such as commuting or environmental sounds. These ML algorithms learn through extensive training on large sets of collected audio samples, enabling accurate noise cancellation once integrated into consumer devices</a:t>
            </a:r>
          </a:p>
          <a:p>
            <a:pPr algn="just">
              <a:buNone/>
            </a:pPr>
            <a:endParaRPr lang="en-US" b="0" i="0" u="none" strike="noStrike" dirty="0">
              <a:solidFill>
                <a:srgbClr val="000000"/>
              </a:solidFill>
              <a:effectLst/>
              <a:latin typeface="Times New Roman" panose="02020603050405020304" pitchFamily="18" charset="0"/>
              <a:cs typeface="Times New Roman" panose="02020603050405020304" pitchFamily="18" charset="0"/>
            </a:endParaRPr>
          </a:p>
          <a:p>
            <a:pPr algn="just"/>
            <a:r>
              <a:rPr lang="en-US" b="0" i="0" u="none" strike="noStrike" dirty="0">
                <a:solidFill>
                  <a:srgbClr val="000000"/>
                </a:solidFill>
                <a:effectLst/>
                <a:latin typeface="Times New Roman" panose="02020603050405020304" pitchFamily="18" charset="0"/>
                <a:cs typeface="Times New Roman" panose="02020603050405020304" pitchFamily="18" charset="0"/>
              </a:rPr>
              <a:t>GPUs play a key role by significantly speeding up ML-based ANC development. GPUs accelerate the training of complex neural network models and efficiently handle extensive audio datasets through parallel processing. This results in ANC products that are more responsive, adaptive, and deliver superior audio quality to users.</a:t>
            </a:r>
          </a:p>
          <a:p>
            <a:pPr algn="l"/>
            <a:endParaRPr lang="en-US" dirty="0">
              <a:solidFill>
                <a:srgbClr val="000000"/>
              </a:solidFill>
            </a:endParaRPr>
          </a:p>
        </p:txBody>
      </p:sp>
    </p:spTree>
    <p:extLst>
      <p:ext uri="{BB962C8B-B14F-4D97-AF65-F5344CB8AC3E}">
        <p14:creationId xmlns:p14="http://schemas.microsoft.com/office/powerpoint/2010/main" val="17791621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9B525-0735-11BD-4F22-1F584BF34C9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FB2EB10-2657-287E-E0F4-D5CDD91D595D}"/>
              </a:ext>
            </a:extLst>
          </p:cNvPr>
          <p:cNvSpPr>
            <a:spLocks noGrp="1"/>
          </p:cNvSpPr>
          <p:nvPr>
            <p:ph type="title"/>
          </p:nvPr>
        </p:nvSpPr>
        <p:spPr>
          <a:xfrm>
            <a:off x="967870" y="212726"/>
            <a:ext cx="10515600" cy="604694"/>
          </a:xfrm>
        </p:spPr>
        <p:txBody>
          <a:bodyPr>
            <a:normAutofit/>
          </a:bodyPr>
          <a:lstStyle/>
          <a:p>
            <a:r>
              <a:rPr lang="en-US" sz="3200" dirty="0">
                <a:latin typeface="Times New Roman" panose="02020603050405020304" pitchFamily="18" charset="0"/>
                <a:cs typeface="Times New Roman" panose="02020603050405020304" pitchFamily="18" charset="0"/>
              </a:rPr>
              <a:t>Overview</a:t>
            </a:r>
          </a:p>
        </p:txBody>
      </p:sp>
      <p:pic>
        <p:nvPicPr>
          <p:cNvPr id="7" name="Content Placeholder 6" descr="A red letter n on a black background&#10;&#10;AI-generated content may be incorrect.">
            <a:extLst>
              <a:ext uri="{FF2B5EF4-FFF2-40B4-BE49-F238E27FC236}">
                <a16:creationId xmlns:a16="http://schemas.microsoft.com/office/drawing/2014/main" id="{2B831EC6-BE5C-0134-BB5C-3AF67C50B2D7}"/>
              </a:ext>
            </a:extLst>
          </p:cNvPr>
          <p:cNvPicPr>
            <a:picLocks noGrp="1" noChangeAspect="1"/>
          </p:cNvPicPr>
          <p:nvPr>
            <p:ph idx="1"/>
          </p:nvPr>
        </p:nvPicPr>
        <p:blipFill>
          <a:blip r:embed="rId3"/>
          <a:stretch>
            <a:fillRect/>
          </a:stretch>
        </p:blipFill>
        <p:spPr>
          <a:xfrm>
            <a:off x="-94312" y="-92363"/>
            <a:ext cx="1062182" cy="1062182"/>
          </a:xfrm>
        </p:spPr>
      </p:pic>
      <p:sp>
        <p:nvSpPr>
          <p:cNvPr id="10" name="TextBox 9">
            <a:extLst>
              <a:ext uri="{FF2B5EF4-FFF2-40B4-BE49-F238E27FC236}">
                <a16:creationId xmlns:a16="http://schemas.microsoft.com/office/drawing/2014/main" id="{672BA195-9051-9D58-9A19-DC852A8937EA}"/>
              </a:ext>
            </a:extLst>
          </p:cNvPr>
          <p:cNvSpPr txBox="1"/>
          <p:nvPr/>
        </p:nvSpPr>
        <p:spPr>
          <a:xfrm>
            <a:off x="1460277" y="1161138"/>
            <a:ext cx="9271441" cy="1200329"/>
          </a:xfrm>
          <a:prstGeom prst="rect">
            <a:avLst/>
          </a:prstGeom>
          <a:noFill/>
        </p:spPr>
        <p:txBody>
          <a:bodyPr wrap="square">
            <a:spAutoFit/>
          </a:bodyPr>
          <a:lstStyle/>
          <a:p>
            <a:pPr algn="just"/>
            <a:r>
              <a:rPr lang="en-US" i="0" u="none" strike="noStrike" dirty="0">
                <a:solidFill>
                  <a:srgbClr val="000000"/>
                </a:solidFill>
                <a:effectLst/>
                <a:latin typeface="Times New Roman" panose="02020603050405020304" pitchFamily="18" charset="0"/>
                <a:cs typeface="Times New Roman" panose="02020603050405020304" pitchFamily="18" charset="0"/>
              </a:rPr>
              <a:t>Building on the previous preface, this study aims to evaluate and compare the GPU utilization of V100 and P100 GPUs during the training of two models — </a:t>
            </a:r>
            <a:r>
              <a:rPr lang="en-US" i="0" u="none" strike="noStrike" dirty="0" err="1">
                <a:solidFill>
                  <a:srgbClr val="000000"/>
                </a:solidFill>
                <a:effectLst/>
                <a:latin typeface="Times New Roman" panose="02020603050405020304" pitchFamily="18" charset="0"/>
                <a:cs typeface="Times New Roman" panose="02020603050405020304" pitchFamily="18" charset="0"/>
              </a:rPr>
              <a:t>DeepFilterNet</a:t>
            </a:r>
            <a:r>
              <a:rPr lang="en-US" i="0" u="none" strike="noStrike" dirty="0">
                <a:solidFill>
                  <a:srgbClr val="000000"/>
                </a:solidFill>
                <a:effectLst/>
                <a:latin typeface="Times New Roman" panose="02020603050405020304" pitchFamily="18" charset="0"/>
                <a:cs typeface="Times New Roman" panose="02020603050405020304" pitchFamily="18" charset="0"/>
              </a:rPr>
              <a:t> and </a:t>
            </a:r>
            <a:r>
              <a:rPr lang="en-US" i="0" u="none" strike="noStrike" dirty="0" err="1">
                <a:solidFill>
                  <a:srgbClr val="000000"/>
                </a:solidFill>
                <a:effectLst/>
                <a:latin typeface="Times New Roman" panose="02020603050405020304" pitchFamily="18" charset="0"/>
                <a:cs typeface="Times New Roman" panose="02020603050405020304" pitchFamily="18" charset="0"/>
              </a:rPr>
              <a:t>WaveUNet</a:t>
            </a:r>
            <a:r>
              <a:rPr lang="en-US" i="0" u="none" strike="noStrike" dirty="0">
                <a:solidFill>
                  <a:srgbClr val="000000"/>
                </a:solidFill>
                <a:effectLst/>
                <a:latin typeface="Times New Roman" panose="02020603050405020304" pitchFamily="18" charset="0"/>
                <a:cs typeface="Times New Roman" panose="02020603050405020304" pitchFamily="18" charset="0"/>
              </a:rPr>
              <a:t> — using selected standard datasets. The performance assessment will focus on key GPU-related metrics such as,</a:t>
            </a:r>
            <a:endParaRPr lang="en-US" dirty="0">
              <a:solidFill>
                <a:srgbClr val="000000"/>
              </a:solidFill>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BFE08D6E-EF0D-9C97-4850-5CB22E7F588D}"/>
              </a:ext>
            </a:extLst>
          </p:cNvPr>
          <p:cNvGraphicFramePr>
            <a:graphicFrameLocks noGrp="1"/>
          </p:cNvGraphicFramePr>
          <p:nvPr>
            <p:extLst>
              <p:ext uri="{D42A27DB-BD31-4B8C-83A1-F6EECF244321}">
                <p14:modId xmlns:p14="http://schemas.microsoft.com/office/powerpoint/2010/main" val="1271121904"/>
              </p:ext>
            </p:extLst>
          </p:nvPr>
        </p:nvGraphicFramePr>
        <p:xfrm>
          <a:off x="2033954" y="2376206"/>
          <a:ext cx="8124092" cy="3695617"/>
        </p:xfrm>
        <a:graphic>
          <a:graphicData uri="http://schemas.openxmlformats.org/drawingml/2006/table">
            <a:tbl>
              <a:tblPr firstRow="1" bandRow="1">
                <a:tableStyleId>{2D5ABB26-0587-4C30-8999-92F81FD0307C}</a:tableStyleId>
              </a:tblPr>
              <a:tblGrid>
                <a:gridCol w="3207701">
                  <a:extLst>
                    <a:ext uri="{9D8B030D-6E8A-4147-A177-3AD203B41FA5}">
                      <a16:colId xmlns:a16="http://schemas.microsoft.com/office/drawing/2014/main" val="671331589"/>
                    </a:ext>
                  </a:extLst>
                </a:gridCol>
                <a:gridCol w="4916391">
                  <a:extLst>
                    <a:ext uri="{9D8B030D-6E8A-4147-A177-3AD203B41FA5}">
                      <a16:colId xmlns:a16="http://schemas.microsoft.com/office/drawing/2014/main" val="1515024115"/>
                    </a:ext>
                  </a:extLst>
                </a:gridCol>
              </a:tblGrid>
              <a:tr h="749409">
                <a:tc>
                  <a:txBody>
                    <a:bodyPr/>
                    <a:lstStyle/>
                    <a:p>
                      <a:r>
                        <a:rPr lang="en-US" sz="1400" b="1" i="0" u="none" strike="noStrike" kern="1200" dirty="0">
                          <a:solidFill>
                            <a:schemeClr val="tx1"/>
                          </a:solidFill>
                          <a:effectLst/>
                          <a:latin typeface="Times New Roman" panose="02020603050405020304" pitchFamily="18" charset="0"/>
                          <a:ea typeface="+mn-ea"/>
                          <a:cs typeface="Times New Roman" panose="02020603050405020304" pitchFamily="18" charset="0"/>
                        </a:rPr>
                        <a:t>GPU Utilization (%)</a:t>
                      </a:r>
                      <a:endParaRPr lang="en-US" sz="1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to identify potential bottlenecks and assess hardware-model compatibility</a:t>
                      </a:r>
                      <a:endParaRPr lang="en-US" sz="1400" dirty="0">
                        <a:solidFill>
                          <a:srgbClr val="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50806845"/>
                  </a:ext>
                </a:extLst>
              </a:tr>
              <a:tr h="530831">
                <a:tc>
                  <a:txBody>
                    <a:bodyPr/>
                    <a:lstStyle/>
                    <a:p>
                      <a:r>
                        <a:rPr lang="en-US" sz="1400" b="1" i="0" u="none" strike="noStrike" kern="1200" dirty="0">
                          <a:solidFill>
                            <a:schemeClr val="tx1"/>
                          </a:solidFill>
                          <a:effectLst/>
                          <a:latin typeface="Times New Roman" panose="02020603050405020304" pitchFamily="18" charset="0"/>
                          <a:ea typeface="+mn-ea"/>
                          <a:cs typeface="Times New Roman" panose="02020603050405020304" pitchFamily="18" charset="0"/>
                        </a:rPr>
                        <a:t>GPU Memory Usage (%)</a:t>
                      </a:r>
                      <a:endParaRPr lang="en-US" sz="1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Measures VRAM utilization, indicating memory-bound behavior</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15306585"/>
                  </a:ext>
                </a:extLst>
              </a:tr>
              <a:tr h="530831">
                <a:tc>
                  <a:txBody>
                    <a:bodyPr/>
                    <a:lstStyle/>
                    <a:p>
                      <a:r>
                        <a:rPr lang="en-US" sz="1400" b="1" i="0" u="none" strike="noStrike" kern="1200" dirty="0">
                          <a:solidFill>
                            <a:schemeClr val="tx1"/>
                          </a:solidFill>
                          <a:effectLst/>
                          <a:latin typeface="Times New Roman" panose="02020603050405020304" pitchFamily="18" charset="0"/>
                          <a:ea typeface="+mn-ea"/>
                          <a:cs typeface="Times New Roman" panose="02020603050405020304" pitchFamily="18" charset="0"/>
                        </a:rPr>
                        <a:t>Power Consumption (W)</a:t>
                      </a:r>
                      <a:endParaRPr lang="en-US" sz="1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Tracks power used per training instance, reflecting compute load</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97708199"/>
                  </a:ext>
                </a:extLst>
              </a:tr>
              <a:tr h="749409">
                <a:tc>
                  <a:txBody>
                    <a:bodyPr/>
                    <a:lstStyle/>
                    <a:p>
                      <a:r>
                        <a:rPr lang="en-US" sz="1400" b="1" i="0" u="none" strike="noStrike" kern="1200" dirty="0">
                          <a:solidFill>
                            <a:schemeClr val="tx1"/>
                          </a:solidFill>
                          <a:effectLst/>
                          <a:latin typeface="Times New Roman" panose="02020603050405020304" pitchFamily="18" charset="0"/>
                          <a:ea typeface="+mn-ea"/>
                          <a:cs typeface="Times New Roman" panose="02020603050405020304" pitchFamily="18" charset="0"/>
                        </a:rPr>
                        <a:t>Clock Speed (MHz)</a:t>
                      </a:r>
                      <a:endParaRPr lang="en-US" sz="1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Monitors GPU and memory clock rates to detect performance-limiting factors</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6285776"/>
                  </a:ext>
                </a:extLst>
              </a:tr>
              <a:tr h="749409">
                <a:tc>
                  <a:txBody>
                    <a:bodyPr/>
                    <a:lstStyle/>
                    <a:p>
                      <a:r>
                        <a:rPr lang="en-US" sz="1400" b="1" dirty="0">
                          <a:latin typeface="Times New Roman" panose="02020603050405020304" pitchFamily="18" charset="0"/>
                          <a:cs typeface="Times New Roman" panose="02020603050405020304" pitchFamily="18" charset="0"/>
                        </a:rPr>
                        <a:t>Batch Size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Evaluates how different batch sizes impact GPU utilization and efficiency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88939155"/>
                  </a:ext>
                </a:extLst>
              </a:tr>
              <a:tr h="385728">
                <a:tc>
                  <a:txBody>
                    <a:bodyPr/>
                    <a:lstStyle/>
                    <a:p>
                      <a:r>
                        <a:rPr lang="en-US" sz="1400" b="1" dirty="0">
                          <a:latin typeface="Times New Roman" panose="02020603050405020304" pitchFamily="18" charset="0"/>
                          <a:cs typeface="Times New Roman" panose="02020603050405020304" pitchFamily="18" charset="0"/>
                        </a:rPr>
                        <a:t>Temperature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GPU temperature every interval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96604899"/>
                  </a:ext>
                </a:extLst>
              </a:tr>
            </a:tbl>
          </a:graphicData>
        </a:graphic>
      </p:graphicFrame>
    </p:spTree>
    <p:extLst>
      <p:ext uri="{BB962C8B-B14F-4D97-AF65-F5344CB8AC3E}">
        <p14:creationId xmlns:p14="http://schemas.microsoft.com/office/powerpoint/2010/main" val="34635609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E680C-7B5D-A50D-8D1D-1745770F44E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C8E36FF-442C-EE4C-6E0F-070D26905038}"/>
              </a:ext>
            </a:extLst>
          </p:cNvPr>
          <p:cNvSpPr>
            <a:spLocks noGrp="1"/>
          </p:cNvSpPr>
          <p:nvPr>
            <p:ph type="title"/>
          </p:nvPr>
        </p:nvSpPr>
        <p:spPr>
          <a:xfrm>
            <a:off x="967870" y="136381"/>
            <a:ext cx="10515600" cy="604694"/>
          </a:xfrm>
        </p:spPr>
        <p:txBody>
          <a:bodyPr>
            <a:noAutofit/>
          </a:bodyPr>
          <a:lstStyle/>
          <a:p>
            <a:r>
              <a:rPr lang="en-US" sz="2400" b="1" dirty="0">
                <a:latin typeface="Times New Roman" panose="02020603050405020304" pitchFamily="18" charset="0"/>
                <a:cs typeface="Times New Roman" panose="02020603050405020304" pitchFamily="18" charset="0"/>
              </a:rPr>
              <a:t>Key GPU Performance Metrics for Evaluating Deep Learning Models</a:t>
            </a:r>
          </a:p>
        </p:txBody>
      </p:sp>
      <p:pic>
        <p:nvPicPr>
          <p:cNvPr id="7" name="Content Placeholder 6" descr="A red letter n on a black background&#10;&#10;AI-generated content may be incorrect.">
            <a:extLst>
              <a:ext uri="{FF2B5EF4-FFF2-40B4-BE49-F238E27FC236}">
                <a16:creationId xmlns:a16="http://schemas.microsoft.com/office/drawing/2014/main" id="{83D46C41-7004-9810-90D1-A6F05A1716C3}"/>
              </a:ext>
            </a:extLst>
          </p:cNvPr>
          <p:cNvPicPr>
            <a:picLocks noGrp="1" noChangeAspect="1"/>
          </p:cNvPicPr>
          <p:nvPr>
            <p:ph idx="1"/>
          </p:nvPr>
        </p:nvPicPr>
        <p:blipFill>
          <a:blip r:embed="rId3"/>
          <a:stretch>
            <a:fillRect/>
          </a:stretch>
        </p:blipFill>
        <p:spPr>
          <a:xfrm>
            <a:off x="-94312" y="-92363"/>
            <a:ext cx="1062182" cy="1062182"/>
          </a:xfrm>
        </p:spPr>
      </p:pic>
      <p:sp>
        <p:nvSpPr>
          <p:cNvPr id="2" name="Rectangle 2">
            <a:extLst>
              <a:ext uri="{FF2B5EF4-FFF2-40B4-BE49-F238E27FC236}">
                <a16:creationId xmlns:a16="http://schemas.microsoft.com/office/drawing/2014/main" id="{3B7D853E-0284-B52A-E251-555BD49C3A74}"/>
              </a:ext>
            </a:extLst>
          </p:cNvPr>
          <p:cNvSpPr txBox="1">
            <a:spLocks noChangeArrowheads="1"/>
          </p:cNvSpPr>
          <p:nvPr/>
        </p:nvSpPr>
        <p:spPr bwMode="auto">
          <a:xfrm>
            <a:off x="1614837" y="1320748"/>
            <a:ext cx="9221666"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eaLnBrk="0" fontAlgn="base" hangingPunct="0">
              <a:lnSpc>
                <a:spcPct val="100000"/>
              </a:lnSpc>
              <a:spcBef>
                <a:spcPct val="0"/>
              </a:spcBef>
              <a:spcAft>
                <a:spcPct val="0"/>
              </a:spcAft>
              <a:buFont typeface="Arial" panose="020B0604020202020204" pitchFamily="34" charset="0"/>
              <a:buAutoNum type="arabicParenR"/>
            </a:pPr>
            <a:r>
              <a:rPr lang="en-US" altLang="en-US" sz="1800" b="1" dirty="0">
                <a:latin typeface="Times New Roman" panose="02020603050405020304" pitchFamily="18" charset="0"/>
                <a:cs typeface="Times New Roman" panose="02020603050405020304" pitchFamily="18" charset="0"/>
              </a:rPr>
              <a:t>Training Throughput</a:t>
            </a:r>
            <a:br>
              <a:rPr lang="en-US" altLang="en-US" sz="1800" dirty="0">
                <a:latin typeface="Times New Roman" panose="02020603050405020304" pitchFamily="18" charset="0"/>
                <a:cs typeface="Times New Roman" panose="02020603050405020304" pitchFamily="18" charset="0"/>
              </a:rPr>
            </a:br>
            <a:r>
              <a:rPr lang="en-US" altLang="en-US" sz="1800" dirty="0">
                <a:latin typeface="Times New Roman" panose="02020603050405020304" pitchFamily="18" charset="0"/>
                <a:cs typeface="Times New Roman" panose="02020603050405020304" pitchFamily="18" charset="0"/>
              </a:rPr>
              <a:t>	– Number of samples processed per second</a:t>
            </a:r>
          </a:p>
          <a:p>
            <a:pPr marL="342900" indent="-342900" eaLnBrk="0" fontAlgn="base" hangingPunct="0">
              <a:lnSpc>
                <a:spcPct val="100000"/>
              </a:lnSpc>
              <a:spcBef>
                <a:spcPct val="0"/>
              </a:spcBef>
              <a:spcAft>
                <a:spcPct val="0"/>
              </a:spcAft>
              <a:buFont typeface="Arial" panose="020B0604020202020204" pitchFamily="34" charset="0"/>
              <a:buAutoNum type="arabicParenR"/>
            </a:pPr>
            <a:r>
              <a:rPr lang="en-US" altLang="en-US" sz="1800" b="1" dirty="0">
                <a:latin typeface="Times New Roman" panose="02020603050405020304" pitchFamily="18" charset="0"/>
                <a:cs typeface="Times New Roman" panose="02020603050405020304" pitchFamily="18" charset="0"/>
              </a:rPr>
              <a:t>Performance State (P-State)</a:t>
            </a:r>
            <a:br>
              <a:rPr lang="en-US" altLang="en-US" sz="1800" dirty="0">
                <a:latin typeface="Times New Roman" panose="02020603050405020304" pitchFamily="18" charset="0"/>
                <a:cs typeface="Times New Roman" panose="02020603050405020304" pitchFamily="18" charset="0"/>
              </a:rPr>
            </a:br>
            <a:r>
              <a:rPr lang="en-US" altLang="en-US" sz="1800" dirty="0">
                <a:latin typeface="Times New Roman" panose="02020603050405020304" pitchFamily="18" charset="0"/>
                <a:cs typeface="Times New Roman" panose="02020603050405020304" pitchFamily="18" charset="0"/>
              </a:rPr>
              <a:t>	– Indicates current GPU clock state (P0 = max performance)</a:t>
            </a:r>
          </a:p>
          <a:p>
            <a:pPr marL="342900" indent="-342900" eaLnBrk="0" fontAlgn="base" hangingPunct="0">
              <a:lnSpc>
                <a:spcPct val="100000"/>
              </a:lnSpc>
              <a:spcBef>
                <a:spcPct val="0"/>
              </a:spcBef>
              <a:spcAft>
                <a:spcPct val="0"/>
              </a:spcAft>
              <a:buFont typeface="Arial" panose="020B0604020202020204" pitchFamily="34" charset="0"/>
              <a:buAutoNum type="arabicParenR"/>
            </a:pPr>
            <a:r>
              <a:rPr lang="en-US" altLang="en-US" sz="1800" b="1" dirty="0">
                <a:latin typeface="Times New Roman" panose="02020603050405020304" pitchFamily="18" charset="0"/>
                <a:cs typeface="Times New Roman" panose="02020603050405020304" pitchFamily="18" charset="0"/>
              </a:rPr>
              <a:t>Clock Speeds</a:t>
            </a:r>
            <a:br>
              <a:rPr lang="en-US" altLang="en-US" sz="1800" dirty="0">
                <a:latin typeface="Times New Roman" panose="02020603050405020304" pitchFamily="18" charset="0"/>
                <a:cs typeface="Times New Roman" panose="02020603050405020304" pitchFamily="18" charset="0"/>
              </a:rPr>
            </a:br>
            <a:r>
              <a:rPr lang="en-US" altLang="en-US" sz="1800" dirty="0">
                <a:latin typeface="Times New Roman" panose="02020603050405020304" pitchFamily="18" charset="0"/>
                <a:cs typeface="Times New Roman" panose="02020603050405020304" pitchFamily="18" charset="0"/>
              </a:rPr>
              <a:t>	– Current and maximum clock rates for SM, graphics, and memory</a:t>
            </a:r>
          </a:p>
          <a:p>
            <a:pPr marL="342900" indent="-342900" eaLnBrk="0" fontAlgn="base" hangingPunct="0">
              <a:lnSpc>
                <a:spcPct val="100000"/>
              </a:lnSpc>
              <a:spcBef>
                <a:spcPct val="0"/>
              </a:spcBef>
              <a:spcAft>
                <a:spcPct val="0"/>
              </a:spcAft>
              <a:buFont typeface="Arial" panose="020B0604020202020204" pitchFamily="34" charset="0"/>
              <a:buAutoNum type="arabicParenR"/>
            </a:pPr>
            <a:r>
              <a:rPr lang="en-US" altLang="en-US" sz="1800" b="1" dirty="0">
                <a:latin typeface="Times New Roman" panose="02020603050405020304" pitchFamily="18" charset="0"/>
                <a:cs typeface="Times New Roman" panose="02020603050405020304" pitchFamily="18" charset="0"/>
              </a:rPr>
              <a:t>Memory Usage</a:t>
            </a:r>
            <a:br>
              <a:rPr lang="en-US" altLang="en-US" sz="1800" dirty="0">
                <a:latin typeface="Times New Roman" panose="02020603050405020304" pitchFamily="18" charset="0"/>
                <a:cs typeface="Times New Roman" panose="02020603050405020304" pitchFamily="18" charset="0"/>
              </a:rPr>
            </a:br>
            <a:r>
              <a:rPr lang="en-US" altLang="en-US" sz="1800" dirty="0">
                <a:latin typeface="Times New Roman" panose="02020603050405020304" pitchFamily="18" charset="0"/>
                <a:cs typeface="Times New Roman" panose="02020603050405020304" pitchFamily="18" charset="0"/>
              </a:rPr>
              <a:t>	– Total, used, free, and reserved GPU memory</a:t>
            </a:r>
          </a:p>
          <a:p>
            <a:pPr marL="342900" indent="-342900" eaLnBrk="0" fontAlgn="base" hangingPunct="0">
              <a:lnSpc>
                <a:spcPct val="100000"/>
              </a:lnSpc>
              <a:spcBef>
                <a:spcPct val="0"/>
              </a:spcBef>
              <a:spcAft>
                <a:spcPct val="0"/>
              </a:spcAft>
              <a:buFont typeface="Arial" panose="020B0604020202020204" pitchFamily="34" charset="0"/>
              <a:buAutoNum type="arabicParenR"/>
            </a:pPr>
            <a:r>
              <a:rPr lang="en-US" altLang="en-US" sz="1800" b="1" dirty="0">
                <a:latin typeface="Times New Roman" panose="02020603050405020304" pitchFamily="18" charset="0"/>
                <a:cs typeface="Times New Roman" panose="02020603050405020304" pitchFamily="18" charset="0"/>
              </a:rPr>
              <a:t>Utilization</a:t>
            </a:r>
            <a:br>
              <a:rPr lang="en-US" altLang="en-US" sz="1800" dirty="0">
                <a:latin typeface="Times New Roman" panose="02020603050405020304" pitchFamily="18" charset="0"/>
                <a:cs typeface="Times New Roman" panose="02020603050405020304" pitchFamily="18" charset="0"/>
              </a:rPr>
            </a:br>
            <a:r>
              <a:rPr lang="en-US" altLang="en-US" sz="1800" dirty="0">
                <a:latin typeface="Times New Roman" panose="02020603050405020304" pitchFamily="18" charset="0"/>
                <a:cs typeface="Times New Roman" panose="02020603050405020304" pitchFamily="18" charset="0"/>
              </a:rPr>
              <a:t>	– SM activity (%) and memory controller activity (%) over time</a:t>
            </a:r>
          </a:p>
          <a:p>
            <a:pPr marL="342900" indent="-342900" eaLnBrk="0" fontAlgn="base" hangingPunct="0">
              <a:lnSpc>
                <a:spcPct val="100000"/>
              </a:lnSpc>
              <a:spcBef>
                <a:spcPct val="0"/>
              </a:spcBef>
              <a:spcAft>
                <a:spcPct val="0"/>
              </a:spcAft>
              <a:buFont typeface="Arial" panose="020B0604020202020204" pitchFamily="34" charset="0"/>
              <a:buAutoNum type="arabicParenR"/>
            </a:pPr>
            <a:r>
              <a:rPr lang="en-US" altLang="en-US" sz="1800" b="1" dirty="0">
                <a:latin typeface="Times New Roman" panose="02020603050405020304" pitchFamily="18" charset="0"/>
                <a:cs typeface="Times New Roman" panose="02020603050405020304" pitchFamily="18" charset="0"/>
              </a:rPr>
              <a:t>Temperature</a:t>
            </a:r>
            <a:br>
              <a:rPr lang="en-US" altLang="en-US" sz="1800" dirty="0">
                <a:latin typeface="Times New Roman" panose="02020603050405020304" pitchFamily="18" charset="0"/>
                <a:cs typeface="Times New Roman" panose="02020603050405020304" pitchFamily="18" charset="0"/>
              </a:rPr>
            </a:br>
            <a:r>
              <a:rPr lang="en-US" altLang="en-US" sz="1800" dirty="0">
                <a:latin typeface="Times New Roman" panose="02020603050405020304" pitchFamily="18" charset="0"/>
                <a:cs typeface="Times New Roman" panose="02020603050405020304" pitchFamily="18" charset="0"/>
              </a:rPr>
              <a:t>	– Real-time core temperature and thermal throttle threshold</a:t>
            </a:r>
          </a:p>
          <a:p>
            <a:pPr marL="342900" indent="-342900" eaLnBrk="0" fontAlgn="base" hangingPunct="0">
              <a:lnSpc>
                <a:spcPct val="100000"/>
              </a:lnSpc>
              <a:spcBef>
                <a:spcPct val="0"/>
              </a:spcBef>
              <a:spcAft>
                <a:spcPct val="0"/>
              </a:spcAft>
              <a:buFont typeface="Arial" panose="020B0604020202020204" pitchFamily="34" charset="0"/>
              <a:buAutoNum type="arabicParenR"/>
            </a:pPr>
            <a:r>
              <a:rPr lang="en-US" altLang="en-US" sz="1800" b="1" dirty="0">
                <a:latin typeface="Times New Roman" panose="02020603050405020304" pitchFamily="18" charset="0"/>
                <a:cs typeface="Times New Roman" panose="02020603050405020304" pitchFamily="18" charset="0"/>
              </a:rPr>
              <a:t>Power Consumption</a:t>
            </a:r>
            <a:br>
              <a:rPr lang="en-US" altLang="en-US" sz="1800" dirty="0">
                <a:latin typeface="Times New Roman" panose="02020603050405020304" pitchFamily="18" charset="0"/>
                <a:cs typeface="Times New Roman" panose="02020603050405020304" pitchFamily="18" charset="0"/>
              </a:rPr>
            </a:br>
            <a:r>
              <a:rPr lang="en-US" altLang="en-US" sz="1800" dirty="0">
                <a:latin typeface="Times New Roman" panose="02020603050405020304" pitchFamily="18" charset="0"/>
                <a:cs typeface="Times New Roman" panose="02020603050405020304" pitchFamily="18" charset="0"/>
              </a:rPr>
              <a:t>	– Current power draw, power limit, and management mode</a:t>
            </a:r>
          </a:p>
        </p:txBody>
      </p:sp>
    </p:spTree>
    <p:extLst>
      <p:ext uri="{BB962C8B-B14F-4D97-AF65-F5344CB8AC3E}">
        <p14:creationId xmlns:p14="http://schemas.microsoft.com/office/powerpoint/2010/main" val="40892628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C2733-363E-547E-2046-E9F5C82DA71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E0476EC-5BD2-7CCA-022E-0CDC61D142D7}"/>
              </a:ext>
            </a:extLst>
          </p:cNvPr>
          <p:cNvSpPr>
            <a:spLocks noGrp="1"/>
          </p:cNvSpPr>
          <p:nvPr>
            <p:ph type="title"/>
          </p:nvPr>
        </p:nvSpPr>
        <p:spPr>
          <a:xfrm>
            <a:off x="967870" y="136381"/>
            <a:ext cx="10515600" cy="604694"/>
          </a:xfrm>
        </p:spPr>
        <p:txBody>
          <a:bodyPr>
            <a:normAutofit/>
          </a:bodyPr>
          <a:lstStyle/>
          <a:p>
            <a:r>
              <a:rPr lang="en-US" sz="3200" b="1" dirty="0">
                <a:latin typeface="Times New Roman" panose="02020603050405020304" pitchFamily="18" charset="0"/>
                <a:cs typeface="Times New Roman" panose="02020603050405020304" pitchFamily="18" charset="0"/>
              </a:rPr>
              <a:t>Hardware Configuration &amp; Compute Resources</a:t>
            </a:r>
          </a:p>
        </p:txBody>
      </p:sp>
      <p:pic>
        <p:nvPicPr>
          <p:cNvPr id="7" name="Content Placeholder 6" descr="A red letter n on a black background&#10;&#10;AI-generated content may be incorrect.">
            <a:extLst>
              <a:ext uri="{FF2B5EF4-FFF2-40B4-BE49-F238E27FC236}">
                <a16:creationId xmlns:a16="http://schemas.microsoft.com/office/drawing/2014/main" id="{47CF050F-B266-94A1-29E2-458BBAB80160}"/>
              </a:ext>
            </a:extLst>
          </p:cNvPr>
          <p:cNvPicPr>
            <a:picLocks noGrp="1" noChangeAspect="1"/>
          </p:cNvPicPr>
          <p:nvPr>
            <p:ph idx="1"/>
          </p:nvPr>
        </p:nvPicPr>
        <p:blipFill>
          <a:blip r:embed="rId3"/>
          <a:stretch>
            <a:fillRect/>
          </a:stretch>
        </p:blipFill>
        <p:spPr>
          <a:xfrm>
            <a:off x="-18248" y="0"/>
            <a:ext cx="1062182" cy="1062182"/>
          </a:xfrm>
        </p:spPr>
      </p:pic>
      <p:sp>
        <p:nvSpPr>
          <p:cNvPr id="2" name="Subtitle 1">
            <a:extLst>
              <a:ext uri="{FF2B5EF4-FFF2-40B4-BE49-F238E27FC236}">
                <a16:creationId xmlns:a16="http://schemas.microsoft.com/office/drawing/2014/main" id="{352E8C5C-9305-BF91-B33A-AC076FEA5EEC}"/>
              </a:ext>
            </a:extLst>
          </p:cNvPr>
          <p:cNvSpPr txBox="1">
            <a:spLocks/>
          </p:cNvSpPr>
          <p:nvPr/>
        </p:nvSpPr>
        <p:spPr>
          <a:xfrm>
            <a:off x="365184" y="1187566"/>
            <a:ext cx="11553645" cy="51355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latin typeface="Times New Roman" panose="02020603050405020304" pitchFamily="18" charset="0"/>
                <a:cs typeface="Times New Roman" panose="02020603050405020304" pitchFamily="18" charset="0"/>
              </a:rPr>
              <a:t>Test Environment: Explorer Cluster Nodes with Tesla P100 &amp; V100 GPUs</a:t>
            </a:r>
          </a:p>
          <a:p>
            <a:endParaRPr lang="en-US" i="1" dirty="0">
              <a:latin typeface="Times New Roman" panose="02020603050405020304" pitchFamily="18" charset="0"/>
              <a:cs typeface="Times New Roman" panose="02020603050405020304" pitchFamily="18" charset="0"/>
            </a:endParaRPr>
          </a:p>
          <a:p>
            <a:endParaRPr lang="en-US" i="1"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B206C5E9-1542-6830-1B52-3BDB0D6988C8}"/>
              </a:ext>
            </a:extLst>
          </p:cNvPr>
          <p:cNvGraphicFramePr>
            <a:graphicFrameLocks noGrp="1"/>
          </p:cNvGraphicFramePr>
          <p:nvPr>
            <p:extLst>
              <p:ext uri="{D42A27DB-BD31-4B8C-83A1-F6EECF244321}">
                <p14:modId xmlns:p14="http://schemas.microsoft.com/office/powerpoint/2010/main" val="2655651320"/>
              </p:ext>
            </p:extLst>
          </p:nvPr>
        </p:nvGraphicFramePr>
        <p:xfrm>
          <a:off x="2949184" y="2128876"/>
          <a:ext cx="6293631" cy="2600247"/>
        </p:xfrm>
        <a:graphic>
          <a:graphicData uri="http://schemas.openxmlformats.org/drawingml/2006/table">
            <a:tbl>
              <a:tblPr>
                <a:tableStyleId>{5C22544A-7EE6-4342-B048-85BDC9FD1C3A}</a:tableStyleId>
              </a:tblPr>
              <a:tblGrid>
                <a:gridCol w="2384217">
                  <a:extLst>
                    <a:ext uri="{9D8B030D-6E8A-4147-A177-3AD203B41FA5}">
                      <a16:colId xmlns:a16="http://schemas.microsoft.com/office/drawing/2014/main" val="1708815411"/>
                    </a:ext>
                  </a:extLst>
                </a:gridCol>
                <a:gridCol w="1981004">
                  <a:extLst>
                    <a:ext uri="{9D8B030D-6E8A-4147-A177-3AD203B41FA5}">
                      <a16:colId xmlns:a16="http://schemas.microsoft.com/office/drawing/2014/main" val="4046563766"/>
                    </a:ext>
                  </a:extLst>
                </a:gridCol>
                <a:gridCol w="1928410">
                  <a:extLst>
                    <a:ext uri="{9D8B030D-6E8A-4147-A177-3AD203B41FA5}">
                      <a16:colId xmlns:a16="http://schemas.microsoft.com/office/drawing/2014/main" val="840428733"/>
                    </a:ext>
                  </a:extLst>
                </a:gridCol>
              </a:tblGrid>
              <a:tr h="478358">
                <a:tc>
                  <a:txBody>
                    <a:bodyPr/>
                    <a:lstStyle/>
                    <a:p>
                      <a:pPr algn="ctr" fontAlgn="ctr"/>
                      <a:r>
                        <a:rPr lang="en-US" sz="1800" b="1" u="none" strike="noStrike" dirty="0">
                          <a:effectLst/>
                          <a:latin typeface="Times New Roman" panose="02020603050405020304" pitchFamily="18" charset="0"/>
                          <a:cs typeface="Times New Roman" panose="02020603050405020304" pitchFamily="18" charset="0"/>
                        </a:rPr>
                        <a:t>Specification</a:t>
                      </a:r>
                      <a:endParaRPr lang="en-US"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800" b="1" u="none" strike="noStrike" dirty="0">
                          <a:effectLst/>
                          <a:latin typeface="Times New Roman" panose="02020603050405020304" pitchFamily="18" charset="0"/>
                          <a:cs typeface="Times New Roman" panose="02020603050405020304" pitchFamily="18" charset="0"/>
                        </a:rPr>
                        <a:t>Tesla P100</a:t>
                      </a:r>
                      <a:endParaRPr lang="en-US"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800" b="1" u="none" strike="noStrike" dirty="0">
                          <a:effectLst/>
                          <a:latin typeface="Times New Roman" panose="02020603050405020304" pitchFamily="18" charset="0"/>
                          <a:cs typeface="Times New Roman" panose="02020603050405020304" pitchFamily="18" charset="0"/>
                        </a:rPr>
                        <a:t>Tesla V100</a:t>
                      </a:r>
                      <a:endParaRPr lang="en-US"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44206179"/>
                  </a:ext>
                </a:extLst>
              </a:tr>
              <a:tr h="474524">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Form Factor</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PCIe</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800" u="none" strike="noStrike" dirty="0">
                          <a:effectLst/>
                          <a:latin typeface="Times New Roman" panose="02020603050405020304" pitchFamily="18" charset="0"/>
                          <a:cs typeface="Times New Roman" panose="02020603050405020304" pitchFamily="18" charset="0"/>
                        </a:rPr>
                        <a:t>SXM2</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185556"/>
                  </a:ext>
                </a:extLst>
              </a:tr>
              <a:tr h="711784">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Total Memory</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800" u="none" strike="noStrike" dirty="0">
                          <a:effectLst/>
                          <a:latin typeface="Times New Roman" panose="02020603050405020304" pitchFamily="18" charset="0"/>
                          <a:cs typeface="Times New Roman" panose="02020603050405020304" pitchFamily="18" charset="0"/>
                        </a:rPr>
                        <a:t>12 GB</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800" u="none" strike="noStrike" dirty="0">
                          <a:effectLst/>
                          <a:latin typeface="Times New Roman" panose="02020603050405020304" pitchFamily="18" charset="0"/>
                          <a:cs typeface="Times New Roman" panose="02020603050405020304" pitchFamily="18" charset="0"/>
                        </a:rPr>
                        <a:t>32 GB</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8234632"/>
                  </a:ext>
                </a:extLst>
              </a:tr>
              <a:tr h="474524">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CUDA Version</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12.2</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12.3</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3455041"/>
                  </a:ext>
                </a:extLst>
              </a:tr>
              <a:tr h="461057">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Interface</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800" u="none" strike="noStrike" dirty="0">
                          <a:effectLst/>
                          <a:latin typeface="Times New Roman" panose="02020603050405020304" pitchFamily="18" charset="0"/>
                          <a:cs typeface="Times New Roman" panose="02020603050405020304" pitchFamily="18" charset="0"/>
                        </a:rPr>
                        <a:t>PCIe</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800" u="none" strike="noStrike" dirty="0">
                          <a:effectLst/>
                          <a:latin typeface="Times New Roman" panose="02020603050405020304" pitchFamily="18" charset="0"/>
                          <a:cs typeface="Times New Roman" panose="02020603050405020304" pitchFamily="18" charset="0"/>
                        </a:rPr>
                        <a:t>SXM2</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7849811"/>
                  </a:ext>
                </a:extLst>
              </a:tr>
            </a:tbl>
          </a:graphicData>
        </a:graphic>
      </p:graphicFrame>
    </p:spTree>
    <p:extLst>
      <p:ext uri="{BB962C8B-B14F-4D97-AF65-F5344CB8AC3E}">
        <p14:creationId xmlns:p14="http://schemas.microsoft.com/office/powerpoint/2010/main" val="3158248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95F5B-DE67-20AC-0259-25C5CA6E371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E8A8E7C-6E6B-56FA-F052-E4355F9EA6BD}"/>
              </a:ext>
            </a:extLst>
          </p:cNvPr>
          <p:cNvSpPr>
            <a:spLocks noGrp="1"/>
          </p:cNvSpPr>
          <p:nvPr>
            <p:ph type="title"/>
          </p:nvPr>
        </p:nvSpPr>
        <p:spPr>
          <a:xfrm>
            <a:off x="967870" y="212726"/>
            <a:ext cx="10515600" cy="604694"/>
          </a:xfrm>
        </p:spPr>
        <p:txBody>
          <a:bodyPr>
            <a:normAutofit/>
          </a:bodyPr>
          <a:lstStyle/>
          <a:p>
            <a:r>
              <a:rPr lang="en-US" sz="3200" dirty="0" err="1">
                <a:latin typeface="Times New Roman" panose="02020603050405020304" pitchFamily="18" charset="0"/>
                <a:cs typeface="Times New Roman" panose="02020603050405020304" pitchFamily="18" charset="0"/>
              </a:rPr>
              <a:t>DeepFilterNet</a:t>
            </a:r>
            <a:endParaRPr lang="en-US" sz="3200" dirty="0">
              <a:latin typeface="Times New Roman" panose="02020603050405020304" pitchFamily="18" charset="0"/>
              <a:cs typeface="Times New Roman" panose="02020603050405020304" pitchFamily="18" charset="0"/>
            </a:endParaRPr>
          </a:p>
        </p:txBody>
      </p:sp>
      <p:pic>
        <p:nvPicPr>
          <p:cNvPr id="7" name="Content Placeholder 6" descr="A red letter n on a black background&#10;&#10;AI-generated content may be incorrect.">
            <a:extLst>
              <a:ext uri="{FF2B5EF4-FFF2-40B4-BE49-F238E27FC236}">
                <a16:creationId xmlns:a16="http://schemas.microsoft.com/office/drawing/2014/main" id="{391B2703-D763-9465-54DD-F64A6C845E93}"/>
              </a:ext>
            </a:extLst>
          </p:cNvPr>
          <p:cNvPicPr>
            <a:picLocks noGrp="1" noChangeAspect="1"/>
          </p:cNvPicPr>
          <p:nvPr>
            <p:ph idx="1"/>
          </p:nvPr>
        </p:nvPicPr>
        <p:blipFill>
          <a:blip r:embed="rId3"/>
          <a:stretch>
            <a:fillRect/>
          </a:stretch>
        </p:blipFill>
        <p:spPr>
          <a:xfrm>
            <a:off x="-94312" y="-92363"/>
            <a:ext cx="1062182" cy="1062182"/>
          </a:xfrm>
        </p:spPr>
      </p:pic>
      <p:sp>
        <p:nvSpPr>
          <p:cNvPr id="10" name="TextBox 9">
            <a:extLst>
              <a:ext uri="{FF2B5EF4-FFF2-40B4-BE49-F238E27FC236}">
                <a16:creationId xmlns:a16="http://schemas.microsoft.com/office/drawing/2014/main" id="{33DD6C8C-FB8C-2A39-6442-8E54DF13D659}"/>
              </a:ext>
            </a:extLst>
          </p:cNvPr>
          <p:cNvSpPr txBox="1"/>
          <p:nvPr/>
        </p:nvSpPr>
        <p:spPr>
          <a:xfrm>
            <a:off x="1337311" y="1122509"/>
            <a:ext cx="9212580" cy="1600438"/>
          </a:xfrm>
          <a:prstGeom prst="rect">
            <a:avLst/>
          </a:prstGeom>
          <a:noFill/>
        </p:spPr>
        <p:txBody>
          <a:bodyPr wrap="square">
            <a:spAutoFit/>
          </a:bodyPr>
          <a:lstStyle/>
          <a:p>
            <a:pPr algn="l"/>
            <a:r>
              <a:rPr lang="en-US" sz="1400" i="0" u="none" strike="noStrike" dirty="0" err="1">
                <a:solidFill>
                  <a:srgbClr val="000000"/>
                </a:solidFill>
                <a:effectLst/>
                <a:latin typeface="Times New Roman" panose="02020603050405020304" pitchFamily="18" charset="0"/>
                <a:cs typeface="Times New Roman" panose="02020603050405020304" pitchFamily="18" charset="0"/>
              </a:rPr>
              <a:t>DeepFilterNet</a:t>
            </a:r>
            <a:r>
              <a:rPr lang="en-US" sz="1400" i="0" u="none" strike="noStrike" dirty="0">
                <a:solidFill>
                  <a:srgbClr val="000000"/>
                </a:solidFill>
                <a:effectLst/>
                <a:latin typeface="Times New Roman" panose="02020603050405020304" pitchFamily="18" charset="0"/>
                <a:cs typeface="Times New Roman" panose="02020603050405020304" pitchFamily="18" charset="0"/>
              </a:rPr>
              <a:t> (DFN) is a deep learning-based model designed for speech enhancement, noise suppression, and general audio improvement. It leverages a combination of spectral feature extraction, recurrent neural network layers, and mask estimation to effectively isolate clean speech from noisy input. Trained in a supervised fashion using paired clean and noisy datasets, DFN is capable of generalizing across diverse real-world noise environments. Its architecture strikes a balance between efficiency and accuracy, making it well-suited for resource-constrained edge devices—an ideal match for the deployment and optimization goals discussed previously. DFN3  model is currently used for training and evaluation. The information of the dataset is attached below, </a:t>
            </a:r>
            <a:endParaRPr lang="en-US" sz="1600" dirty="0">
              <a:solidFill>
                <a:srgbClr val="000000"/>
              </a:solidFill>
              <a:latin typeface="Times New Roman" panose="02020603050405020304" pitchFamily="18" charset="0"/>
              <a:cs typeface="Times New Roman" panose="02020603050405020304" pitchFamily="18" charset="0"/>
            </a:endParaRPr>
          </a:p>
        </p:txBody>
      </p:sp>
      <p:graphicFrame>
        <p:nvGraphicFramePr>
          <p:cNvPr id="30" name="Table 29">
            <a:extLst>
              <a:ext uri="{FF2B5EF4-FFF2-40B4-BE49-F238E27FC236}">
                <a16:creationId xmlns:a16="http://schemas.microsoft.com/office/drawing/2014/main" id="{8B37A460-33F3-8C27-6EC3-8482E20FBF49}"/>
              </a:ext>
            </a:extLst>
          </p:cNvPr>
          <p:cNvGraphicFramePr>
            <a:graphicFrameLocks noGrp="1"/>
          </p:cNvGraphicFramePr>
          <p:nvPr>
            <p:extLst>
              <p:ext uri="{D42A27DB-BD31-4B8C-83A1-F6EECF244321}">
                <p14:modId xmlns:p14="http://schemas.microsoft.com/office/powerpoint/2010/main" val="212701136"/>
              </p:ext>
            </p:extLst>
          </p:nvPr>
        </p:nvGraphicFramePr>
        <p:xfrm>
          <a:off x="2086076" y="2722947"/>
          <a:ext cx="8019848" cy="3073475"/>
        </p:xfrm>
        <a:graphic>
          <a:graphicData uri="http://schemas.openxmlformats.org/drawingml/2006/table">
            <a:tbl>
              <a:tblPr firstRow="1" firstCol="1" bandRow="1">
                <a:tableStyleId>{2D5ABB26-0587-4C30-8999-92F81FD0307C}</a:tableStyleId>
              </a:tblPr>
              <a:tblGrid>
                <a:gridCol w="2004962">
                  <a:extLst>
                    <a:ext uri="{9D8B030D-6E8A-4147-A177-3AD203B41FA5}">
                      <a16:colId xmlns:a16="http://schemas.microsoft.com/office/drawing/2014/main" val="3481546426"/>
                    </a:ext>
                  </a:extLst>
                </a:gridCol>
                <a:gridCol w="2004962">
                  <a:extLst>
                    <a:ext uri="{9D8B030D-6E8A-4147-A177-3AD203B41FA5}">
                      <a16:colId xmlns:a16="http://schemas.microsoft.com/office/drawing/2014/main" val="2861403158"/>
                    </a:ext>
                  </a:extLst>
                </a:gridCol>
                <a:gridCol w="2004962">
                  <a:extLst>
                    <a:ext uri="{9D8B030D-6E8A-4147-A177-3AD203B41FA5}">
                      <a16:colId xmlns:a16="http://schemas.microsoft.com/office/drawing/2014/main" val="3978777285"/>
                    </a:ext>
                  </a:extLst>
                </a:gridCol>
                <a:gridCol w="2004962">
                  <a:extLst>
                    <a:ext uri="{9D8B030D-6E8A-4147-A177-3AD203B41FA5}">
                      <a16:colId xmlns:a16="http://schemas.microsoft.com/office/drawing/2014/main" val="1609790425"/>
                    </a:ext>
                  </a:extLst>
                </a:gridCol>
              </a:tblGrid>
              <a:tr h="404473">
                <a:tc>
                  <a:txBody>
                    <a:bodyPr/>
                    <a:lstStyle/>
                    <a:p>
                      <a:pPr marL="0" marR="0" algn="ctr">
                        <a:lnSpc>
                          <a:spcPct val="115000"/>
                        </a:lnSpc>
                        <a:spcAft>
                          <a:spcPts val="1000"/>
                        </a:spcAft>
                        <a:buNone/>
                      </a:pPr>
                      <a:r>
                        <a:rPr lang="en-US" sz="1200" b="1" dirty="0">
                          <a:effectLst/>
                          <a:latin typeface="Times New Roman" panose="02020603050405020304" pitchFamily="18" charset="0"/>
                          <a:ea typeface="MS Mincho" panose="02020609040205080304" pitchFamily="49" charset="-128"/>
                          <a:cs typeface="Times New Roman" panose="02020603050405020304" pitchFamily="18" charset="0"/>
                        </a:rPr>
                        <a:t>Aspect</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1000"/>
                        </a:spcAft>
                        <a:buNone/>
                      </a:pPr>
                      <a:r>
                        <a:rPr lang="en-US" sz="1200" b="1">
                          <a:effectLst/>
                          <a:latin typeface="Times New Roman" panose="02020603050405020304" pitchFamily="18" charset="0"/>
                          <a:cs typeface="Times New Roman" panose="02020603050405020304" pitchFamily="18" charset="0"/>
                        </a:rPr>
                        <a:t>MS DNS Dataset</a:t>
                      </a:r>
                      <a:endParaRPr lang="en-US" sz="12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1000"/>
                        </a:spcAft>
                        <a:buNone/>
                      </a:pPr>
                      <a:r>
                        <a:rPr lang="en-US" sz="1200" b="1">
                          <a:effectLst/>
                          <a:latin typeface="Times New Roman" panose="02020603050405020304" pitchFamily="18" charset="0"/>
                          <a:cs typeface="Times New Roman" panose="02020603050405020304" pitchFamily="18" charset="0"/>
                        </a:rPr>
                        <a:t>MS SNSD Dataset</a:t>
                      </a:r>
                      <a:endParaRPr lang="en-US" sz="12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1000"/>
                        </a:spcAft>
                        <a:buNone/>
                      </a:pPr>
                      <a:r>
                        <a:rPr lang="en-US" sz="1200" b="1" dirty="0">
                          <a:effectLst/>
                          <a:latin typeface="Times New Roman" panose="02020603050405020304" pitchFamily="18" charset="0"/>
                          <a:cs typeface="Times New Roman" panose="02020603050405020304" pitchFamily="18" charset="0"/>
                        </a:rPr>
                        <a:t>DFN –Aspect Compatibility</a:t>
                      </a:r>
                      <a:endParaRPr lang="en-US" sz="1200" b="1"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6771642"/>
                  </a:ext>
                </a:extLst>
              </a:tr>
              <a:tr h="712733">
                <a:tc>
                  <a:txBody>
                    <a:bodyPr/>
                    <a:lstStyle/>
                    <a:p>
                      <a:pPr marL="0" marR="0" algn="ctr">
                        <a:lnSpc>
                          <a:spcPct val="115000"/>
                        </a:lnSpc>
                        <a:spcAft>
                          <a:spcPts val="1000"/>
                        </a:spcAft>
                        <a:buNone/>
                      </a:pPr>
                      <a:r>
                        <a:rPr lang="en-US" sz="1200" dirty="0">
                          <a:effectLst/>
                          <a:latin typeface="Times New Roman" panose="02020603050405020304" pitchFamily="18" charset="0"/>
                          <a:cs typeface="Times New Roman" panose="02020603050405020304" pitchFamily="18" charset="0"/>
                        </a:rPr>
                        <a:t>Content Type</a:t>
                      </a:r>
                      <a:endParaRPr lang="en-US"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1000"/>
                        </a:spcAft>
                        <a:buNone/>
                      </a:pPr>
                      <a:r>
                        <a:rPr lang="en-US" sz="1200" dirty="0">
                          <a:effectLst/>
                          <a:latin typeface="Times New Roman" panose="02020603050405020304" pitchFamily="18" charset="0"/>
                          <a:cs typeface="Times New Roman" panose="02020603050405020304" pitchFamily="18" charset="0"/>
                        </a:rPr>
                        <a:t>Clean speech + noise (separate or mixed)</a:t>
                      </a:r>
                      <a:endParaRPr lang="en-US"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1000"/>
                        </a:spcAft>
                        <a:buNone/>
                      </a:pPr>
                      <a:r>
                        <a:rPr lang="en-US" sz="1200">
                          <a:effectLst/>
                          <a:latin typeface="Times New Roman" panose="02020603050405020304" pitchFamily="18" charset="0"/>
                          <a:cs typeface="Times New Roman" panose="02020603050405020304" pitchFamily="18" charset="0"/>
                        </a:rPr>
                        <a:t>Clean speech, noise, and pre-mixed noisy speech</a:t>
                      </a:r>
                      <a:endParaRPr lang="en-US"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1000"/>
                        </a:spcAft>
                        <a:buNone/>
                      </a:pPr>
                      <a:r>
                        <a:rPr lang="en-US" sz="1200" dirty="0">
                          <a:effectLst/>
                          <a:latin typeface="Times New Roman" panose="02020603050405020304" pitchFamily="18" charset="0"/>
                          <a:cs typeface="Times New Roman" panose="02020603050405020304" pitchFamily="18" charset="0"/>
                        </a:rPr>
                        <a:t>Fully compatible with DFN’s supervised training setup</a:t>
                      </a:r>
                      <a:endParaRPr lang="en-US"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3843133"/>
                  </a:ext>
                </a:extLst>
              </a:tr>
              <a:tr h="404537">
                <a:tc>
                  <a:txBody>
                    <a:bodyPr/>
                    <a:lstStyle/>
                    <a:p>
                      <a:pPr marL="0" marR="0" algn="ctr">
                        <a:lnSpc>
                          <a:spcPct val="115000"/>
                        </a:lnSpc>
                        <a:spcAft>
                          <a:spcPts val="1000"/>
                        </a:spcAft>
                        <a:buNone/>
                      </a:pPr>
                      <a:r>
                        <a:rPr lang="en-US" sz="1200" dirty="0">
                          <a:effectLst/>
                          <a:latin typeface="Times New Roman" panose="02020603050405020304" pitchFamily="18" charset="0"/>
                          <a:cs typeface="Times New Roman" panose="02020603050405020304" pitchFamily="18" charset="0"/>
                        </a:rPr>
                        <a:t>Noise Source</a:t>
                      </a:r>
                      <a:endParaRPr lang="en-US"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1000"/>
                        </a:spcAft>
                        <a:buNone/>
                      </a:pPr>
                      <a:r>
                        <a:rPr lang="en-US" sz="1200">
                          <a:effectLst/>
                          <a:latin typeface="Times New Roman" panose="02020603050405020304" pitchFamily="18" charset="0"/>
                          <a:cs typeface="Times New Roman" panose="02020603050405020304" pitchFamily="18" charset="0"/>
                        </a:rPr>
                        <a:t>Wide range: babble, office, traffic, etc.</a:t>
                      </a:r>
                      <a:endParaRPr lang="en-US"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1000"/>
                        </a:spcAft>
                        <a:buNone/>
                      </a:pPr>
                      <a:r>
                        <a:rPr lang="en-US" sz="1200">
                          <a:effectLst/>
                          <a:latin typeface="Times New Roman" panose="02020603050405020304" pitchFamily="18" charset="0"/>
                          <a:cs typeface="Times New Roman" panose="02020603050405020304" pitchFamily="18" charset="0"/>
                        </a:rPr>
                        <a:t>10 common real-world noise classes</a:t>
                      </a:r>
                      <a:endParaRPr lang="en-US"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1000"/>
                        </a:spcAft>
                        <a:buNone/>
                      </a:pPr>
                      <a:r>
                        <a:rPr lang="en-US" sz="1200" dirty="0">
                          <a:effectLst/>
                          <a:latin typeface="Times New Roman" panose="02020603050405020304" pitchFamily="18" charset="0"/>
                          <a:cs typeface="Times New Roman" panose="02020603050405020304" pitchFamily="18" charset="0"/>
                        </a:rPr>
                        <a:t>Rich noise diversity helps generalization</a:t>
                      </a:r>
                      <a:endParaRPr lang="en-US"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0698226"/>
                  </a:ext>
                </a:extLst>
              </a:tr>
              <a:tr h="531960">
                <a:tc>
                  <a:txBody>
                    <a:bodyPr/>
                    <a:lstStyle/>
                    <a:p>
                      <a:pPr marL="0" marR="0" algn="ctr">
                        <a:lnSpc>
                          <a:spcPct val="115000"/>
                        </a:lnSpc>
                        <a:spcAft>
                          <a:spcPts val="1000"/>
                        </a:spcAft>
                        <a:buNone/>
                      </a:pPr>
                      <a:r>
                        <a:rPr lang="en-US" sz="1200">
                          <a:effectLst/>
                          <a:latin typeface="Times New Roman" panose="02020603050405020304" pitchFamily="18" charset="0"/>
                          <a:cs typeface="Times New Roman" panose="02020603050405020304" pitchFamily="18" charset="0"/>
                        </a:rPr>
                        <a:t>Sampling Rate</a:t>
                      </a:r>
                      <a:endParaRPr lang="en-US"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1000"/>
                        </a:spcAft>
                        <a:buNone/>
                      </a:pPr>
                      <a:r>
                        <a:rPr lang="en-US" sz="1200" dirty="0">
                          <a:effectLst/>
                          <a:latin typeface="Times New Roman" panose="02020603050405020304" pitchFamily="18" charset="0"/>
                          <a:cs typeface="Times New Roman" panose="02020603050405020304" pitchFamily="18" charset="0"/>
                        </a:rPr>
                        <a:t>16 kHz and 48 kHz (wideband &amp; </a:t>
                      </a:r>
                      <a:r>
                        <a:rPr lang="en-US" sz="1200" dirty="0" err="1">
                          <a:effectLst/>
                          <a:latin typeface="Times New Roman" panose="02020603050405020304" pitchFamily="18" charset="0"/>
                          <a:cs typeface="Times New Roman" panose="02020603050405020304" pitchFamily="18" charset="0"/>
                        </a:rPr>
                        <a:t>fullband</a:t>
                      </a:r>
                      <a:r>
                        <a:rPr lang="en-US" sz="1200" dirty="0">
                          <a:effectLst/>
                          <a:latin typeface="Times New Roman" panose="02020603050405020304" pitchFamily="18" charset="0"/>
                          <a:cs typeface="Times New Roman" panose="02020603050405020304" pitchFamily="18" charset="0"/>
                        </a:rPr>
                        <a:t>)</a:t>
                      </a:r>
                      <a:endParaRPr lang="en-US"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1000"/>
                        </a:spcAft>
                        <a:buNone/>
                      </a:pPr>
                      <a:r>
                        <a:rPr lang="en-US" sz="1200">
                          <a:effectLst/>
                          <a:latin typeface="Times New Roman" panose="02020603050405020304" pitchFamily="18" charset="0"/>
                          <a:cs typeface="Times New Roman" panose="02020603050405020304" pitchFamily="18" charset="0"/>
                        </a:rPr>
                        <a:t>16 kHz</a:t>
                      </a:r>
                      <a:endParaRPr lang="en-US"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1000"/>
                        </a:spcAft>
                        <a:buNone/>
                      </a:pPr>
                      <a:r>
                        <a:rPr lang="en-US" sz="1200" dirty="0">
                          <a:effectLst/>
                          <a:latin typeface="Times New Roman" panose="02020603050405020304" pitchFamily="18" charset="0"/>
                          <a:cs typeface="Times New Roman" panose="02020603050405020304" pitchFamily="18" charset="0"/>
                        </a:rPr>
                        <a:t>DFN supports both — compatible</a:t>
                      </a:r>
                      <a:endParaRPr lang="en-US"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8768532"/>
                  </a:ext>
                </a:extLst>
              </a:tr>
              <a:tr h="404537">
                <a:tc>
                  <a:txBody>
                    <a:bodyPr/>
                    <a:lstStyle/>
                    <a:p>
                      <a:pPr marL="0" marR="0" algn="ctr">
                        <a:lnSpc>
                          <a:spcPct val="115000"/>
                        </a:lnSpc>
                        <a:spcAft>
                          <a:spcPts val="1000"/>
                        </a:spcAft>
                        <a:buNone/>
                      </a:pPr>
                      <a:r>
                        <a:rPr lang="en-US" sz="1200">
                          <a:effectLst/>
                          <a:latin typeface="Times New Roman" panose="02020603050405020304" pitchFamily="18" charset="0"/>
                          <a:cs typeface="Times New Roman" panose="02020603050405020304" pitchFamily="18" charset="0"/>
                        </a:rPr>
                        <a:t>File Format</a:t>
                      </a:r>
                      <a:endParaRPr lang="en-US"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1000"/>
                        </a:spcAft>
                        <a:buNone/>
                      </a:pPr>
                      <a:r>
                        <a:rPr lang="en-US" sz="1200">
                          <a:effectLst/>
                          <a:latin typeface="Times New Roman" panose="02020603050405020304" pitchFamily="18" charset="0"/>
                          <a:cs typeface="Times New Roman" panose="02020603050405020304" pitchFamily="18" charset="0"/>
                        </a:rPr>
                        <a:t>.wav</a:t>
                      </a:r>
                      <a:endParaRPr lang="en-US"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1000"/>
                        </a:spcAft>
                        <a:buNone/>
                      </a:pPr>
                      <a:r>
                        <a:rPr lang="en-US" sz="1200">
                          <a:effectLst/>
                          <a:latin typeface="Times New Roman" panose="02020603050405020304" pitchFamily="18" charset="0"/>
                          <a:cs typeface="Times New Roman" panose="02020603050405020304" pitchFamily="18" charset="0"/>
                        </a:rPr>
                        <a:t>.wav</a:t>
                      </a:r>
                      <a:endParaRPr lang="en-US"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1000"/>
                        </a:spcAft>
                        <a:buNone/>
                      </a:pPr>
                      <a:r>
                        <a:rPr lang="en-US" sz="1200" dirty="0">
                          <a:effectLst/>
                          <a:latin typeface="Times New Roman" panose="02020603050405020304" pitchFamily="18" charset="0"/>
                          <a:cs typeface="Times New Roman" panose="02020603050405020304" pitchFamily="18" charset="0"/>
                        </a:rPr>
                        <a:t>Parse-able to DFN’s HDF5 converter</a:t>
                      </a:r>
                      <a:endParaRPr lang="en-US"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9784197"/>
                  </a:ext>
                </a:extLst>
              </a:tr>
              <a:tr h="615235">
                <a:tc>
                  <a:txBody>
                    <a:bodyPr/>
                    <a:lstStyle/>
                    <a:p>
                      <a:pPr marL="0" marR="0" algn="ctr">
                        <a:lnSpc>
                          <a:spcPct val="115000"/>
                        </a:lnSpc>
                        <a:spcAft>
                          <a:spcPts val="1000"/>
                        </a:spcAft>
                        <a:buNone/>
                      </a:pPr>
                      <a:r>
                        <a:rPr lang="en-US" sz="1200" dirty="0">
                          <a:effectLst/>
                          <a:latin typeface="Times New Roman" panose="02020603050405020304" pitchFamily="18" charset="0"/>
                          <a:cs typeface="Times New Roman" panose="02020603050405020304" pitchFamily="18" charset="0"/>
                        </a:rPr>
                        <a:t>Data Format</a:t>
                      </a:r>
                      <a:endParaRPr lang="en-US"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1000"/>
                        </a:spcAft>
                        <a:buNone/>
                      </a:pPr>
                      <a:r>
                        <a:rPr lang="en-US" sz="1200">
                          <a:effectLst/>
                          <a:latin typeface="Times New Roman" panose="02020603050405020304" pitchFamily="18" charset="0"/>
                          <a:cs typeface="Times New Roman" panose="02020603050405020304" pitchFamily="18" charset="0"/>
                        </a:rPr>
                        <a:t>Clean/noisy pairs, optionally pre-mixed</a:t>
                      </a:r>
                      <a:endParaRPr lang="en-US"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1000"/>
                        </a:spcAft>
                        <a:buNone/>
                      </a:pPr>
                      <a:r>
                        <a:rPr lang="en-US" sz="1200">
                          <a:effectLst/>
                          <a:latin typeface="Times New Roman" panose="02020603050405020304" pitchFamily="18" charset="0"/>
                          <a:cs typeface="Times New Roman" panose="02020603050405020304" pitchFamily="18" charset="0"/>
                        </a:rPr>
                        <a:t>Clean, noise, and noisy in separate folders</a:t>
                      </a:r>
                      <a:endParaRPr lang="en-US"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1000"/>
                        </a:spcAft>
                        <a:buNone/>
                      </a:pPr>
                      <a:r>
                        <a:rPr lang="en-US" sz="1200" dirty="0">
                          <a:effectLst/>
                          <a:latin typeface="Times New Roman" panose="02020603050405020304" pitchFamily="18" charset="0"/>
                          <a:cs typeface="Times New Roman" panose="02020603050405020304" pitchFamily="18" charset="0"/>
                        </a:rPr>
                        <a:t>Aligns with DFN’s expected HDF5 group structure</a:t>
                      </a:r>
                      <a:endParaRPr lang="en-US"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6472346"/>
                  </a:ext>
                </a:extLst>
              </a:tr>
            </a:tbl>
          </a:graphicData>
        </a:graphic>
      </p:graphicFrame>
    </p:spTree>
    <p:extLst>
      <p:ext uri="{BB962C8B-B14F-4D97-AF65-F5344CB8AC3E}">
        <p14:creationId xmlns:p14="http://schemas.microsoft.com/office/powerpoint/2010/main" val="168297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7EF47-1513-1DAD-7544-A0A74F08637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A1E4DC6-0BC2-07A0-60C7-865599180D98}"/>
              </a:ext>
            </a:extLst>
          </p:cNvPr>
          <p:cNvSpPr>
            <a:spLocks noGrp="1"/>
          </p:cNvSpPr>
          <p:nvPr>
            <p:ph type="title"/>
          </p:nvPr>
        </p:nvSpPr>
        <p:spPr>
          <a:xfrm>
            <a:off x="967870" y="212726"/>
            <a:ext cx="10515600" cy="604694"/>
          </a:xfrm>
        </p:spPr>
        <p:txBody>
          <a:bodyPr>
            <a:normAutofit/>
          </a:bodyPr>
          <a:lstStyle/>
          <a:p>
            <a:r>
              <a:rPr lang="en-US" sz="3200" dirty="0">
                <a:latin typeface="Times New Roman" panose="02020603050405020304" pitchFamily="18" charset="0"/>
                <a:cs typeface="Times New Roman" panose="02020603050405020304" pitchFamily="18" charset="0"/>
              </a:rPr>
              <a:t>Progress &amp; Insights - </a:t>
            </a:r>
            <a:r>
              <a:rPr lang="en-US" sz="3200" dirty="0" err="1">
                <a:latin typeface="Times New Roman" panose="02020603050405020304" pitchFamily="18" charset="0"/>
                <a:cs typeface="Times New Roman" panose="02020603050405020304" pitchFamily="18" charset="0"/>
              </a:rPr>
              <a:t>DeepFilterNet</a:t>
            </a:r>
            <a:endParaRPr lang="en-US" sz="3200" dirty="0">
              <a:latin typeface="Times New Roman" panose="02020603050405020304" pitchFamily="18" charset="0"/>
              <a:cs typeface="Times New Roman" panose="02020603050405020304" pitchFamily="18" charset="0"/>
            </a:endParaRPr>
          </a:p>
        </p:txBody>
      </p:sp>
      <p:pic>
        <p:nvPicPr>
          <p:cNvPr id="7" name="Content Placeholder 6" descr="A red letter n on a black background&#10;&#10;AI-generated content may be incorrect.">
            <a:extLst>
              <a:ext uri="{FF2B5EF4-FFF2-40B4-BE49-F238E27FC236}">
                <a16:creationId xmlns:a16="http://schemas.microsoft.com/office/drawing/2014/main" id="{423EA555-8A4A-7D2A-4E44-E3E896379F00}"/>
              </a:ext>
            </a:extLst>
          </p:cNvPr>
          <p:cNvPicPr>
            <a:picLocks noGrp="1" noChangeAspect="1"/>
          </p:cNvPicPr>
          <p:nvPr>
            <p:ph idx="1"/>
          </p:nvPr>
        </p:nvPicPr>
        <p:blipFill>
          <a:blip r:embed="rId3"/>
          <a:stretch>
            <a:fillRect/>
          </a:stretch>
        </p:blipFill>
        <p:spPr>
          <a:xfrm>
            <a:off x="-94312" y="-92363"/>
            <a:ext cx="1062182" cy="1062182"/>
          </a:xfrm>
        </p:spPr>
      </p:pic>
      <p:sp>
        <p:nvSpPr>
          <p:cNvPr id="9" name="TextBox 8">
            <a:extLst>
              <a:ext uri="{FF2B5EF4-FFF2-40B4-BE49-F238E27FC236}">
                <a16:creationId xmlns:a16="http://schemas.microsoft.com/office/drawing/2014/main" id="{2CDD1921-EFCC-06C8-774D-EA89CB6B28B2}"/>
              </a:ext>
            </a:extLst>
          </p:cNvPr>
          <p:cNvSpPr txBox="1"/>
          <p:nvPr/>
        </p:nvSpPr>
        <p:spPr>
          <a:xfrm>
            <a:off x="967870" y="969819"/>
            <a:ext cx="10515600" cy="4832092"/>
          </a:xfrm>
          <a:prstGeom prst="rect">
            <a:avLst/>
          </a:prstGeom>
          <a:noFill/>
        </p:spPr>
        <p:txBody>
          <a:bodyPr wrap="square">
            <a:spAutoFit/>
          </a:bodyPr>
          <a:lstStyle/>
          <a:p>
            <a:pPr marL="285750" indent="-285750">
              <a:buFont typeface="Wingdings" pitchFamily="2" charset="2"/>
              <a:buChar char="è"/>
            </a:pPr>
            <a:r>
              <a:rPr lang="en-US" sz="1400" b="1" dirty="0">
                <a:latin typeface="Times New Roman" panose="02020603050405020304" pitchFamily="18" charset="0"/>
                <a:cs typeface="Times New Roman" panose="02020603050405020304" pitchFamily="18" charset="0"/>
              </a:rPr>
              <a:t>Experiment Setup</a:t>
            </a:r>
          </a:p>
          <a:p>
            <a:pPr marL="742950" lvl="1" indent="-285750">
              <a:buFontTx/>
              <a:buChar char="-"/>
            </a:pPr>
            <a:r>
              <a:rPr lang="en-US" sz="1400" dirty="0">
                <a:latin typeface="Times New Roman" panose="02020603050405020304" pitchFamily="18" charset="0"/>
                <a:cs typeface="Times New Roman" panose="02020603050405020304" pitchFamily="18" charset="0"/>
              </a:rPr>
              <a:t>Proceeded with setting up the models and cloned, labelled and categorized the necessary data for model training</a:t>
            </a:r>
          </a:p>
          <a:p>
            <a:pPr marL="742950" lvl="1" indent="-285750">
              <a:buFontTx/>
              <a:buChar char="-"/>
            </a:pPr>
            <a:r>
              <a:rPr lang="en-US" sz="1400" dirty="0">
                <a:latin typeface="Times New Roman" panose="02020603050405020304" pitchFamily="18" charset="0"/>
                <a:cs typeface="Times New Roman" panose="02020603050405020304" pitchFamily="18" charset="0"/>
              </a:rPr>
              <a:t>Developed few python scripts to launch training and store logs generated as part of training process</a:t>
            </a:r>
            <a:endParaRPr lang="en-US" sz="1400" b="1" dirty="0">
              <a:latin typeface="Times New Roman" panose="02020603050405020304" pitchFamily="18" charset="0"/>
              <a:cs typeface="Times New Roman" panose="02020603050405020304" pitchFamily="18" charset="0"/>
            </a:endParaRPr>
          </a:p>
          <a:p>
            <a:pPr marL="285750" indent="-285750">
              <a:buFont typeface="Wingdings" pitchFamily="2" charset="2"/>
              <a:buChar char="è"/>
            </a:pPr>
            <a:r>
              <a:rPr lang="en-US" sz="1400" b="1" dirty="0">
                <a:latin typeface="Times New Roman" panose="02020603050405020304" pitchFamily="18" charset="0"/>
                <a:cs typeface="Times New Roman" panose="02020603050405020304" pitchFamily="18" charset="0"/>
              </a:rPr>
              <a:t>Preprocessing</a:t>
            </a:r>
          </a:p>
          <a:p>
            <a:pPr marL="742950" lvl="1" indent="-285750">
              <a:buFontTx/>
              <a:buChar char="-"/>
            </a:pPr>
            <a:r>
              <a:rPr lang="en-US" sz="1400" dirty="0">
                <a:latin typeface="Times New Roman" panose="02020603050405020304" pitchFamily="18" charset="0"/>
                <a:cs typeface="Times New Roman" panose="02020603050405020304" pitchFamily="18" charset="0"/>
              </a:rPr>
              <a:t>Converted audio files in (.wav) format into HDF5 files which were required for training the model</a:t>
            </a:r>
          </a:p>
          <a:p>
            <a:pPr marL="742950" lvl="1" indent="-285750">
              <a:buFontTx/>
              <a:buChar char="-"/>
            </a:pPr>
            <a:r>
              <a:rPr lang="en-US" sz="1400" dirty="0">
                <a:latin typeface="Times New Roman" panose="02020603050405020304" pitchFamily="18" charset="0"/>
                <a:cs typeface="Times New Roman" panose="02020603050405020304" pitchFamily="18" charset="0"/>
              </a:rPr>
              <a:t>Created separate config files to launch training with custom parameters and dataset paths</a:t>
            </a:r>
          </a:p>
          <a:p>
            <a:pPr marL="285750" indent="-285750">
              <a:buFont typeface="Wingdings" pitchFamily="2" charset="2"/>
              <a:buChar char="è"/>
            </a:pPr>
            <a:r>
              <a:rPr lang="en-US" sz="1400" b="1" dirty="0">
                <a:latin typeface="Times New Roman" panose="02020603050405020304" pitchFamily="18" charset="0"/>
                <a:cs typeface="Times New Roman" panose="02020603050405020304" pitchFamily="18" charset="0"/>
              </a:rPr>
              <a:t>Model Training</a:t>
            </a:r>
          </a:p>
          <a:p>
            <a:pPr marL="742950" lvl="1" indent="-285750">
              <a:buFontTx/>
              <a:buChar char="-"/>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Batch sizes of 1 and 2 were used to reflect the limited memory and compute capabilities of edge devices, making them ideal for evaluating DFN’s performance under realistic deployment constraints. This setup simulates low-latency, on-device learning scenarios such as quick personalization or fine-tuning using small local datasets.</a:t>
            </a:r>
          </a:p>
          <a:p>
            <a:pPr marL="742950" lvl="1" indent="-285750">
              <a:buFontTx/>
              <a:buChar char="-"/>
            </a:pPr>
            <a:r>
              <a:rPr lang="en-US" sz="1400" dirty="0">
                <a:solidFill>
                  <a:srgbClr val="000000"/>
                </a:solidFill>
                <a:latin typeface="Times New Roman" panose="02020603050405020304" pitchFamily="18" charset="0"/>
                <a:cs typeface="Times New Roman" panose="02020603050405020304" pitchFamily="18" charset="0"/>
              </a:rPr>
              <a:t>Corresponding logs were generated and analyzed to gather necessary training insights</a:t>
            </a:r>
          </a:p>
          <a:p>
            <a:pPr marL="742950" lvl="1" indent="-285750">
              <a:buFontTx/>
              <a:buChar char="-"/>
            </a:pPr>
            <a:r>
              <a:rPr lang="en-US" sz="1400" dirty="0">
                <a:solidFill>
                  <a:srgbClr val="000000"/>
                </a:solidFill>
                <a:latin typeface="Times New Roman" panose="02020603050405020304" pitchFamily="18" charset="0"/>
                <a:cs typeface="Times New Roman" panose="02020603050405020304" pitchFamily="18" charset="0"/>
              </a:rPr>
              <a:t>Training Directory Structure,</a:t>
            </a:r>
          </a:p>
          <a:p>
            <a:pPr marL="1200150" lvl="2" indent="-285750">
              <a:buFontTx/>
              <a:buChar char="-"/>
            </a:pPr>
            <a:r>
              <a:rPr lang="en-US" sz="1400" dirty="0">
                <a:solidFill>
                  <a:srgbClr val="000000"/>
                </a:solidFill>
                <a:latin typeface="Times New Roman" panose="02020603050405020304" pitchFamily="18" charset="0"/>
                <a:cs typeface="Times New Roman" panose="02020603050405020304" pitchFamily="18" charset="0"/>
              </a:rPr>
              <a:t>DNS/</a:t>
            </a:r>
          </a:p>
          <a:p>
            <a:pPr marL="1657350" lvl="3" indent="-285750">
              <a:buFontTx/>
              <a:buChar char="-"/>
            </a:pPr>
            <a:r>
              <a:rPr lang="en-US" sz="1400" dirty="0">
                <a:solidFill>
                  <a:srgbClr val="000000"/>
                </a:solidFill>
                <a:latin typeface="Times New Roman" panose="02020603050405020304" pitchFamily="18" charset="0"/>
                <a:cs typeface="Times New Roman" panose="02020603050405020304" pitchFamily="18" charset="0"/>
              </a:rPr>
              <a:t>clean-DNS.HDF5</a:t>
            </a:r>
          </a:p>
          <a:p>
            <a:pPr marL="1657350" lvl="3" indent="-285750">
              <a:buFontTx/>
              <a:buChar char="-"/>
            </a:pPr>
            <a:r>
              <a:rPr lang="en-US" sz="1400" dirty="0">
                <a:solidFill>
                  <a:srgbClr val="000000"/>
                </a:solidFill>
                <a:latin typeface="Times New Roman" panose="02020603050405020304" pitchFamily="18" charset="0"/>
                <a:cs typeface="Times New Roman" panose="02020603050405020304" pitchFamily="18" charset="0"/>
              </a:rPr>
              <a:t>noise-DNS.HDF5</a:t>
            </a:r>
          </a:p>
          <a:p>
            <a:pPr marL="1657350" lvl="3" indent="-285750">
              <a:buFontTx/>
              <a:buChar char="-"/>
            </a:pPr>
            <a:endParaRPr lang="en-US" sz="1400" dirty="0">
              <a:solidFill>
                <a:srgbClr val="000000"/>
              </a:solidFill>
              <a:latin typeface="Times New Roman" panose="02020603050405020304" pitchFamily="18" charset="0"/>
              <a:cs typeface="Times New Roman" panose="02020603050405020304" pitchFamily="18" charset="0"/>
            </a:endParaRPr>
          </a:p>
          <a:p>
            <a:pPr marL="1200150" lvl="2" indent="-285750">
              <a:buFontTx/>
              <a:buChar char="-"/>
            </a:pPr>
            <a:r>
              <a:rPr lang="en-US" sz="1400" dirty="0">
                <a:solidFill>
                  <a:srgbClr val="000000"/>
                </a:solidFill>
                <a:latin typeface="Times New Roman" panose="02020603050405020304" pitchFamily="18" charset="0"/>
                <a:cs typeface="Times New Roman" panose="02020603050405020304" pitchFamily="18" charset="0"/>
              </a:rPr>
              <a:t>SNSD/</a:t>
            </a:r>
          </a:p>
          <a:p>
            <a:pPr marL="1657350" lvl="3" indent="-285750">
              <a:buFontTx/>
              <a:buChar char="-"/>
            </a:pPr>
            <a:r>
              <a:rPr lang="en-US" sz="1400" dirty="0">
                <a:solidFill>
                  <a:srgbClr val="000000"/>
                </a:solidFill>
                <a:latin typeface="Times New Roman" panose="02020603050405020304" pitchFamily="18" charset="0"/>
                <a:cs typeface="Times New Roman" panose="02020603050405020304" pitchFamily="18" charset="0"/>
              </a:rPr>
              <a:t>clean-SNSD.HDF5</a:t>
            </a:r>
          </a:p>
          <a:p>
            <a:pPr marL="1657350" lvl="3" indent="-285750">
              <a:buFontTx/>
              <a:buChar char="-"/>
            </a:pPr>
            <a:r>
              <a:rPr lang="en-US" sz="1400" dirty="0">
                <a:solidFill>
                  <a:srgbClr val="000000"/>
                </a:solidFill>
                <a:latin typeface="Times New Roman" panose="02020603050405020304" pitchFamily="18" charset="0"/>
                <a:cs typeface="Times New Roman" panose="02020603050405020304" pitchFamily="18" charset="0"/>
              </a:rPr>
              <a:t>noise-SNSD.HDF5</a:t>
            </a:r>
            <a:endParaRPr lang="en-US" sz="1400" dirty="0">
              <a:latin typeface="Times New Roman" panose="02020603050405020304" pitchFamily="18" charset="0"/>
              <a:cs typeface="Times New Roman" panose="02020603050405020304" pitchFamily="18" charset="0"/>
            </a:endParaRPr>
          </a:p>
          <a:p>
            <a:pPr lvl="3"/>
            <a:endParaRPr lang="en-US" sz="1400" dirty="0">
              <a:latin typeface="Times New Roman" panose="02020603050405020304" pitchFamily="18" charset="0"/>
              <a:cs typeface="Times New Roman" panose="02020603050405020304" pitchFamily="18" charset="0"/>
            </a:endParaRPr>
          </a:p>
          <a:p>
            <a:pPr lvl="1"/>
            <a:r>
              <a:rPr lang="en-US" sz="1400" dirty="0">
                <a:solidFill>
                  <a:srgbClr val="000000"/>
                </a:solidFill>
                <a:latin typeface="Times New Roman" panose="02020603050405020304" pitchFamily="18" charset="0"/>
                <a:cs typeface="Times New Roman" panose="02020603050405020304" pitchFamily="18" charset="0"/>
              </a:rPr>
              <a:t>- This framework to use to perform model training on V100 and G100 GPUs for different epoch and batch size configurations</a:t>
            </a:r>
            <a:endParaRPr lang="en-US" sz="1400" b="1" dirty="0">
              <a:latin typeface="Times New Roman" panose="02020603050405020304" pitchFamily="18" charset="0"/>
              <a:cs typeface="Times New Roman" panose="02020603050405020304" pitchFamily="18" charset="0"/>
            </a:endParaRPr>
          </a:p>
          <a:p>
            <a:pPr marL="285750" indent="-285750">
              <a:buFont typeface="Wingdings" pitchFamily="2" charset="2"/>
              <a:buChar char="è"/>
            </a:pPr>
            <a:endParaRPr lang="en-US" sz="1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86436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C94B6-235A-26EF-9055-6B5E2AEFA20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16160CF-7E98-59C5-2CB8-07DBF1646494}"/>
              </a:ext>
            </a:extLst>
          </p:cNvPr>
          <p:cNvSpPr>
            <a:spLocks noGrp="1"/>
          </p:cNvSpPr>
          <p:nvPr>
            <p:ph type="title"/>
          </p:nvPr>
        </p:nvSpPr>
        <p:spPr>
          <a:xfrm>
            <a:off x="967870" y="212726"/>
            <a:ext cx="10515600" cy="604694"/>
          </a:xfrm>
        </p:spPr>
        <p:txBody>
          <a:bodyPr>
            <a:normAutofit/>
          </a:bodyPr>
          <a:lstStyle/>
          <a:p>
            <a:r>
              <a:rPr lang="en-US" sz="3200" dirty="0">
                <a:latin typeface="Times New Roman" panose="02020603050405020304" pitchFamily="18" charset="0"/>
                <a:cs typeface="Times New Roman" panose="02020603050405020304" pitchFamily="18" charset="0"/>
              </a:rPr>
              <a:t>Continued ..</a:t>
            </a:r>
          </a:p>
        </p:txBody>
      </p:sp>
      <p:pic>
        <p:nvPicPr>
          <p:cNvPr id="7" name="Content Placeholder 6" descr="A red letter n on a black background&#10;&#10;AI-generated content may be incorrect.">
            <a:extLst>
              <a:ext uri="{FF2B5EF4-FFF2-40B4-BE49-F238E27FC236}">
                <a16:creationId xmlns:a16="http://schemas.microsoft.com/office/drawing/2014/main" id="{64C40497-7940-A444-7F18-22C249E2B2B7}"/>
              </a:ext>
            </a:extLst>
          </p:cNvPr>
          <p:cNvPicPr>
            <a:picLocks noGrp="1" noChangeAspect="1"/>
          </p:cNvPicPr>
          <p:nvPr>
            <p:ph idx="1"/>
          </p:nvPr>
        </p:nvPicPr>
        <p:blipFill>
          <a:blip r:embed="rId3"/>
          <a:stretch>
            <a:fillRect/>
          </a:stretch>
        </p:blipFill>
        <p:spPr>
          <a:xfrm>
            <a:off x="-94312" y="-92363"/>
            <a:ext cx="1062182" cy="1062182"/>
          </a:xfrm>
        </p:spPr>
      </p:pic>
      <p:sp>
        <p:nvSpPr>
          <p:cNvPr id="5" name="AutoShape 4" descr="Output image">
            <a:extLst>
              <a:ext uri="{FF2B5EF4-FFF2-40B4-BE49-F238E27FC236}">
                <a16:creationId xmlns:a16="http://schemas.microsoft.com/office/drawing/2014/main" id="{4C003EDC-CD52-C828-DE2D-DAE08A91821B}"/>
              </a:ext>
            </a:extLst>
          </p:cNvPr>
          <p:cNvSpPr>
            <a:spLocks noChangeAspect="1" noChangeArrowheads="1"/>
          </p:cNvSpPr>
          <p:nvPr/>
        </p:nvSpPr>
        <p:spPr bwMode="auto">
          <a:xfrm>
            <a:off x="5532120" y="3150877"/>
            <a:ext cx="6659880" cy="328484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descr="A group of graphs showing loss vs. loss&#10;&#10;AI-generated content may be incorrect.">
            <a:extLst>
              <a:ext uri="{FF2B5EF4-FFF2-40B4-BE49-F238E27FC236}">
                <a16:creationId xmlns:a16="http://schemas.microsoft.com/office/drawing/2014/main" id="{9B8A89D3-17F6-111C-F9D3-B83B538BE631}"/>
              </a:ext>
            </a:extLst>
          </p:cNvPr>
          <p:cNvPicPr>
            <a:picLocks noChangeAspect="1"/>
          </p:cNvPicPr>
          <p:nvPr/>
        </p:nvPicPr>
        <p:blipFill>
          <a:blip r:embed="rId4"/>
          <a:stretch>
            <a:fillRect/>
          </a:stretch>
        </p:blipFill>
        <p:spPr>
          <a:xfrm>
            <a:off x="136434" y="1205496"/>
            <a:ext cx="5783002" cy="3855334"/>
          </a:xfrm>
          <a:prstGeom prst="rect">
            <a:avLst/>
          </a:prstGeom>
        </p:spPr>
      </p:pic>
      <p:pic>
        <p:nvPicPr>
          <p:cNvPr id="9" name="Picture 8" descr="A graph of a step&#10;&#10;AI-generated content may be incorrect.">
            <a:extLst>
              <a:ext uri="{FF2B5EF4-FFF2-40B4-BE49-F238E27FC236}">
                <a16:creationId xmlns:a16="http://schemas.microsoft.com/office/drawing/2014/main" id="{6FA39E51-8EFE-E27A-5B5D-F1BBB17F99F1}"/>
              </a:ext>
            </a:extLst>
          </p:cNvPr>
          <p:cNvPicPr>
            <a:picLocks noChangeAspect="1"/>
          </p:cNvPicPr>
          <p:nvPr/>
        </p:nvPicPr>
        <p:blipFill>
          <a:blip r:embed="rId5"/>
          <a:stretch>
            <a:fillRect/>
          </a:stretch>
        </p:blipFill>
        <p:spPr>
          <a:xfrm>
            <a:off x="5926502" y="1205496"/>
            <a:ext cx="6194526" cy="3855334"/>
          </a:xfrm>
          <a:prstGeom prst="rect">
            <a:avLst/>
          </a:prstGeom>
        </p:spPr>
      </p:pic>
      <p:sp>
        <p:nvSpPr>
          <p:cNvPr id="10" name="TextBox 9">
            <a:extLst>
              <a:ext uri="{FF2B5EF4-FFF2-40B4-BE49-F238E27FC236}">
                <a16:creationId xmlns:a16="http://schemas.microsoft.com/office/drawing/2014/main" id="{CF8ED44C-98B5-8D42-6640-871BA9CECF74}"/>
              </a:ext>
            </a:extLst>
          </p:cNvPr>
          <p:cNvSpPr txBox="1"/>
          <p:nvPr/>
        </p:nvSpPr>
        <p:spPr>
          <a:xfrm>
            <a:off x="1624931" y="5806189"/>
            <a:ext cx="2720617" cy="261610"/>
          </a:xfrm>
          <a:prstGeom prst="rect">
            <a:avLst/>
          </a:prstGeom>
          <a:noFill/>
        </p:spPr>
        <p:txBody>
          <a:bodyPr wrap="none" rtlCol="0">
            <a:spAutoFit/>
          </a:bodyPr>
          <a:lstStyle/>
          <a:p>
            <a:r>
              <a:rPr lang="en-US" sz="1100" dirty="0">
                <a:latin typeface="Times New Roman" panose="02020603050405020304" pitchFamily="18" charset="0"/>
                <a:cs typeface="Times New Roman" panose="02020603050405020304" pitchFamily="18" charset="0"/>
              </a:rPr>
              <a:t>Fig(1). Training DFN with MS-DNS Dataset</a:t>
            </a:r>
          </a:p>
        </p:txBody>
      </p:sp>
      <p:sp>
        <p:nvSpPr>
          <p:cNvPr id="12" name="TextBox 11">
            <a:extLst>
              <a:ext uri="{FF2B5EF4-FFF2-40B4-BE49-F238E27FC236}">
                <a16:creationId xmlns:a16="http://schemas.microsoft.com/office/drawing/2014/main" id="{4EA16053-F040-2805-4484-BF785B845E2B}"/>
              </a:ext>
            </a:extLst>
          </p:cNvPr>
          <p:cNvSpPr txBox="1"/>
          <p:nvPr/>
        </p:nvSpPr>
        <p:spPr>
          <a:xfrm>
            <a:off x="7097909" y="5793199"/>
            <a:ext cx="2799164" cy="261610"/>
          </a:xfrm>
          <a:prstGeom prst="rect">
            <a:avLst/>
          </a:prstGeom>
          <a:noFill/>
        </p:spPr>
        <p:txBody>
          <a:bodyPr wrap="none" rtlCol="0">
            <a:spAutoFit/>
          </a:bodyPr>
          <a:lstStyle/>
          <a:p>
            <a:r>
              <a:rPr lang="en-US" sz="1100" dirty="0">
                <a:latin typeface="Times New Roman" panose="02020603050405020304" pitchFamily="18" charset="0"/>
                <a:cs typeface="Times New Roman" panose="02020603050405020304" pitchFamily="18" charset="0"/>
              </a:rPr>
              <a:t>Fig(2). Training DFN with MS-SNSD Dataset</a:t>
            </a:r>
          </a:p>
        </p:txBody>
      </p:sp>
    </p:spTree>
    <p:extLst>
      <p:ext uri="{BB962C8B-B14F-4D97-AF65-F5344CB8AC3E}">
        <p14:creationId xmlns:p14="http://schemas.microsoft.com/office/powerpoint/2010/main" val="39714023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F2646-1E52-8D39-3A4A-BACC1FFC2B9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373B8F2-EC57-888D-2F4D-4E2CA519EB6A}"/>
              </a:ext>
            </a:extLst>
          </p:cNvPr>
          <p:cNvSpPr>
            <a:spLocks noGrp="1"/>
          </p:cNvSpPr>
          <p:nvPr>
            <p:ph type="title"/>
          </p:nvPr>
        </p:nvSpPr>
        <p:spPr>
          <a:xfrm>
            <a:off x="967870" y="212726"/>
            <a:ext cx="10515600" cy="604694"/>
          </a:xfrm>
        </p:spPr>
        <p:txBody>
          <a:bodyPr>
            <a:normAutofit/>
          </a:bodyPr>
          <a:lstStyle/>
          <a:p>
            <a:r>
              <a:rPr lang="en-US" sz="3200" dirty="0">
                <a:latin typeface="Times New Roman" panose="02020603050405020304" pitchFamily="18" charset="0"/>
                <a:cs typeface="Times New Roman" panose="02020603050405020304" pitchFamily="18" charset="0"/>
              </a:rPr>
              <a:t>Continued ..</a:t>
            </a:r>
          </a:p>
        </p:txBody>
      </p:sp>
      <p:pic>
        <p:nvPicPr>
          <p:cNvPr id="7" name="Content Placeholder 6" descr="A red letter n on a black background&#10;&#10;AI-generated content may be incorrect.">
            <a:extLst>
              <a:ext uri="{FF2B5EF4-FFF2-40B4-BE49-F238E27FC236}">
                <a16:creationId xmlns:a16="http://schemas.microsoft.com/office/drawing/2014/main" id="{CFFB66FE-9937-7AED-5853-A42234A15464}"/>
              </a:ext>
            </a:extLst>
          </p:cNvPr>
          <p:cNvPicPr>
            <a:picLocks noGrp="1" noChangeAspect="1"/>
          </p:cNvPicPr>
          <p:nvPr>
            <p:ph idx="1"/>
          </p:nvPr>
        </p:nvPicPr>
        <p:blipFill>
          <a:blip r:embed="rId3"/>
          <a:stretch>
            <a:fillRect/>
          </a:stretch>
        </p:blipFill>
        <p:spPr>
          <a:xfrm>
            <a:off x="-94312" y="-92363"/>
            <a:ext cx="1062182" cy="1062182"/>
          </a:xfrm>
        </p:spPr>
      </p:pic>
      <p:sp>
        <p:nvSpPr>
          <p:cNvPr id="5" name="AutoShape 4" descr="Output image">
            <a:extLst>
              <a:ext uri="{FF2B5EF4-FFF2-40B4-BE49-F238E27FC236}">
                <a16:creationId xmlns:a16="http://schemas.microsoft.com/office/drawing/2014/main" id="{1E450791-86ED-05CE-46DD-215D9A03B45D}"/>
              </a:ext>
            </a:extLst>
          </p:cNvPr>
          <p:cNvSpPr>
            <a:spLocks noChangeAspect="1" noChangeArrowheads="1"/>
          </p:cNvSpPr>
          <p:nvPr/>
        </p:nvSpPr>
        <p:spPr bwMode="auto">
          <a:xfrm>
            <a:off x="5532120" y="3150877"/>
            <a:ext cx="6659880" cy="328484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TextBox 9">
            <a:extLst>
              <a:ext uri="{FF2B5EF4-FFF2-40B4-BE49-F238E27FC236}">
                <a16:creationId xmlns:a16="http://schemas.microsoft.com/office/drawing/2014/main" id="{30428A92-A184-0C39-E59F-F5C359EE301C}"/>
              </a:ext>
            </a:extLst>
          </p:cNvPr>
          <p:cNvSpPr txBox="1"/>
          <p:nvPr/>
        </p:nvSpPr>
        <p:spPr>
          <a:xfrm>
            <a:off x="1896068" y="3203386"/>
            <a:ext cx="2273379"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Fig(1). Throughput on P100 for SNSD</a:t>
            </a:r>
          </a:p>
        </p:txBody>
      </p:sp>
      <p:pic>
        <p:nvPicPr>
          <p:cNvPr id="11" name="Picture 10" descr="A graph with orange squares&#10;&#10;AI-generated content may be incorrect.">
            <a:extLst>
              <a:ext uri="{FF2B5EF4-FFF2-40B4-BE49-F238E27FC236}">
                <a16:creationId xmlns:a16="http://schemas.microsoft.com/office/drawing/2014/main" id="{02319DBC-7082-C861-437F-080CCE2692FE}"/>
              </a:ext>
            </a:extLst>
          </p:cNvPr>
          <p:cNvPicPr>
            <a:picLocks noChangeAspect="1"/>
          </p:cNvPicPr>
          <p:nvPr/>
        </p:nvPicPr>
        <p:blipFill>
          <a:blip r:embed="rId4"/>
          <a:stretch>
            <a:fillRect/>
          </a:stretch>
        </p:blipFill>
        <p:spPr>
          <a:xfrm>
            <a:off x="1173909" y="751154"/>
            <a:ext cx="3718743" cy="2479163"/>
          </a:xfrm>
          <a:prstGeom prst="rect">
            <a:avLst/>
          </a:prstGeom>
        </p:spPr>
      </p:pic>
      <p:pic>
        <p:nvPicPr>
          <p:cNvPr id="14" name="Picture 13" descr="A graph with different sizes and colors&#10;&#10;AI-generated content may be incorrect.">
            <a:extLst>
              <a:ext uri="{FF2B5EF4-FFF2-40B4-BE49-F238E27FC236}">
                <a16:creationId xmlns:a16="http://schemas.microsoft.com/office/drawing/2014/main" id="{9038F081-F57F-D3C5-3EF7-459E8F0C5212}"/>
              </a:ext>
            </a:extLst>
          </p:cNvPr>
          <p:cNvPicPr>
            <a:picLocks noChangeAspect="1"/>
          </p:cNvPicPr>
          <p:nvPr/>
        </p:nvPicPr>
        <p:blipFill>
          <a:blip r:embed="rId5"/>
          <a:stretch>
            <a:fillRect/>
          </a:stretch>
        </p:blipFill>
        <p:spPr>
          <a:xfrm>
            <a:off x="1172864" y="3528176"/>
            <a:ext cx="3719788" cy="2776743"/>
          </a:xfrm>
          <a:prstGeom prst="rect">
            <a:avLst/>
          </a:prstGeom>
        </p:spPr>
      </p:pic>
      <p:sp>
        <p:nvSpPr>
          <p:cNvPr id="16" name="TextBox 15">
            <a:extLst>
              <a:ext uri="{FF2B5EF4-FFF2-40B4-BE49-F238E27FC236}">
                <a16:creationId xmlns:a16="http://schemas.microsoft.com/office/drawing/2014/main" id="{1848FBA3-AE1B-D153-6D7A-FA6DD5E101B1}"/>
              </a:ext>
            </a:extLst>
          </p:cNvPr>
          <p:cNvSpPr txBox="1"/>
          <p:nvPr/>
        </p:nvSpPr>
        <p:spPr>
          <a:xfrm>
            <a:off x="1741482" y="6304919"/>
            <a:ext cx="2377888" cy="261610"/>
          </a:xfrm>
          <a:prstGeom prst="rect">
            <a:avLst/>
          </a:prstGeom>
          <a:noFill/>
        </p:spPr>
        <p:txBody>
          <a:bodyPr wrap="square">
            <a:spAutoFit/>
          </a:bodyPr>
          <a:lstStyle/>
          <a:p>
            <a:r>
              <a:rPr lang="en-US" sz="1100" dirty="0">
                <a:latin typeface="Times New Roman" panose="02020603050405020304" pitchFamily="18" charset="0"/>
                <a:cs typeface="Times New Roman" panose="02020603050405020304" pitchFamily="18" charset="0"/>
              </a:rPr>
              <a:t>Fig(2). Throughput on V100 for SNSD</a:t>
            </a:r>
          </a:p>
        </p:txBody>
      </p:sp>
      <p:sp>
        <p:nvSpPr>
          <p:cNvPr id="17" name="TextBox 16">
            <a:extLst>
              <a:ext uri="{FF2B5EF4-FFF2-40B4-BE49-F238E27FC236}">
                <a16:creationId xmlns:a16="http://schemas.microsoft.com/office/drawing/2014/main" id="{125E73F9-6D65-6807-644F-30F4A9B4A97F}"/>
              </a:ext>
            </a:extLst>
          </p:cNvPr>
          <p:cNvSpPr txBox="1"/>
          <p:nvPr/>
        </p:nvSpPr>
        <p:spPr>
          <a:xfrm>
            <a:off x="7299350" y="3124189"/>
            <a:ext cx="2377888" cy="261610"/>
          </a:xfrm>
          <a:prstGeom prst="rect">
            <a:avLst/>
          </a:prstGeom>
          <a:noFill/>
        </p:spPr>
        <p:txBody>
          <a:bodyPr wrap="square">
            <a:spAutoFit/>
          </a:bodyPr>
          <a:lstStyle/>
          <a:p>
            <a:r>
              <a:rPr lang="en-US" sz="1100" dirty="0">
                <a:latin typeface="Times New Roman" panose="02020603050405020304" pitchFamily="18" charset="0"/>
                <a:cs typeface="Times New Roman" panose="02020603050405020304" pitchFamily="18" charset="0"/>
              </a:rPr>
              <a:t>Fig(3). Throughput on P100 for DNS</a:t>
            </a:r>
          </a:p>
        </p:txBody>
      </p:sp>
      <p:pic>
        <p:nvPicPr>
          <p:cNvPr id="21" name="Picture 20" descr="A graph with orange lines&#10;&#10;AI-generated content may be incorrect.">
            <a:extLst>
              <a:ext uri="{FF2B5EF4-FFF2-40B4-BE49-F238E27FC236}">
                <a16:creationId xmlns:a16="http://schemas.microsoft.com/office/drawing/2014/main" id="{C9B380F5-FFFF-9039-E7EC-093C7E41B158}"/>
              </a:ext>
            </a:extLst>
          </p:cNvPr>
          <p:cNvPicPr>
            <a:picLocks noChangeAspect="1"/>
          </p:cNvPicPr>
          <p:nvPr/>
        </p:nvPicPr>
        <p:blipFill>
          <a:blip r:embed="rId6"/>
          <a:stretch>
            <a:fillRect/>
          </a:stretch>
        </p:blipFill>
        <p:spPr>
          <a:xfrm>
            <a:off x="6152432" y="3657600"/>
            <a:ext cx="5080508" cy="2516513"/>
          </a:xfrm>
          <a:prstGeom prst="rect">
            <a:avLst/>
          </a:prstGeom>
        </p:spPr>
      </p:pic>
      <p:pic>
        <p:nvPicPr>
          <p:cNvPr id="23" name="Picture 22" descr="A graph with orange lines&#10;&#10;AI-generated content may be incorrect.">
            <a:extLst>
              <a:ext uri="{FF2B5EF4-FFF2-40B4-BE49-F238E27FC236}">
                <a16:creationId xmlns:a16="http://schemas.microsoft.com/office/drawing/2014/main" id="{D2F507C7-F7FA-C667-AFAD-812352D56629}"/>
              </a:ext>
            </a:extLst>
          </p:cNvPr>
          <p:cNvPicPr>
            <a:picLocks noChangeAspect="1"/>
          </p:cNvPicPr>
          <p:nvPr/>
        </p:nvPicPr>
        <p:blipFill>
          <a:blip r:embed="rId7"/>
          <a:stretch>
            <a:fillRect/>
          </a:stretch>
        </p:blipFill>
        <p:spPr>
          <a:xfrm>
            <a:off x="6296566" y="574651"/>
            <a:ext cx="4848761" cy="2397140"/>
          </a:xfrm>
          <a:prstGeom prst="rect">
            <a:avLst/>
          </a:prstGeom>
        </p:spPr>
      </p:pic>
      <p:sp>
        <p:nvSpPr>
          <p:cNvPr id="25" name="TextBox 24">
            <a:extLst>
              <a:ext uri="{FF2B5EF4-FFF2-40B4-BE49-F238E27FC236}">
                <a16:creationId xmlns:a16="http://schemas.microsoft.com/office/drawing/2014/main" id="{F004DE01-EF9C-AEF3-53CB-AEB6AD22958E}"/>
              </a:ext>
            </a:extLst>
          </p:cNvPr>
          <p:cNvSpPr txBox="1"/>
          <p:nvPr/>
        </p:nvSpPr>
        <p:spPr>
          <a:xfrm>
            <a:off x="7621357" y="6304919"/>
            <a:ext cx="2377888" cy="261610"/>
          </a:xfrm>
          <a:prstGeom prst="rect">
            <a:avLst/>
          </a:prstGeom>
          <a:noFill/>
        </p:spPr>
        <p:txBody>
          <a:bodyPr wrap="square">
            <a:spAutoFit/>
          </a:bodyPr>
          <a:lstStyle/>
          <a:p>
            <a:r>
              <a:rPr lang="en-US" sz="1100" dirty="0">
                <a:latin typeface="Times New Roman" panose="02020603050405020304" pitchFamily="18" charset="0"/>
                <a:cs typeface="Times New Roman" panose="02020603050405020304" pitchFamily="18" charset="0"/>
              </a:rPr>
              <a:t>Fig(4). Throughput on V100 for DNS</a:t>
            </a:r>
          </a:p>
        </p:txBody>
      </p:sp>
    </p:spTree>
    <p:extLst>
      <p:ext uri="{BB962C8B-B14F-4D97-AF65-F5344CB8AC3E}">
        <p14:creationId xmlns:p14="http://schemas.microsoft.com/office/powerpoint/2010/main" val="2164599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00CAA-4B6E-ACF0-CE92-4B4F019C2AC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A9D7A19-CDA6-B71C-D12E-35EE9AFED0BB}"/>
              </a:ext>
            </a:extLst>
          </p:cNvPr>
          <p:cNvSpPr>
            <a:spLocks noGrp="1"/>
          </p:cNvSpPr>
          <p:nvPr>
            <p:ph type="title"/>
          </p:nvPr>
        </p:nvSpPr>
        <p:spPr>
          <a:xfrm>
            <a:off x="967870" y="212726"/>
            <a:ext cx="10515600" cy="604694"/>
          </a:xfrm>
        </p:spPr>
        <p:txBody>
          <a:bodyPr>
            <a:normAutofit/>
          </a:bodyPr>
          <a:lstStyle/>
          <a:p>
            <a:r>
              <a:rPr lang="en-US" sz="3200" dirty="0">
                <a:latin typeface="Times New Roman" panose="02020603050405020304" pitchFamily="18" charset="0"/>
                <a:cs typeface="Times New Roman" panose="02020603050405020304" pitchFamily="18" charset="0"/>
              </a:rPr>
              <a:t>Continued ..</a:t>
            </a:r>
          </a:p>
        </p:txBody>
      </p:sp>
      <p:pic>
        <p:nvPicPr>
          <p:cNvPr id="7" name="Content Placeholder 6" descr="A red letter n on a black background&#10;&#10;AI-generated content may be incorrect.">
            <a:extLst>
              <a:ext uri="{FF2B5EF4-FFF2-40B4-BE49-F238E27FC236}">
                <a16:creationId xmlns:a16="http://schemas.microsoft.com/office/drawing/2014/main" id="{41741DCA-16B1-261E-7908-EDC94E101929}"/>
              </a:ext>
            </a:extLst>
          </p:cNvPr>
          <p:cNvPicPr>
            <a:picLocks noGrp="1" noChangeAspect="1"/>
          </p:cNvPicPr>
          <p:nvPr>
            <p:ph idx="1"/>
          </p:nvPr>
        </p:nvPicPr>
        <p:blipFill>
          <a:blip r:embed="rId3"/>
          <a:stretch>
            <a:fillRect/>
          </a:stretch>
        </p:blipFill>
        <p:spPr>
          <a:xfrm>
            <a:off x="-94312" y="-92363"/>
            <a:ext cx="1062182" cy="1062182"/>
          </a:xfrm>
        </p:spPr>
      </p:pic>
      <p:sp>
        <p:nvSpPr>
          <p:cNvPr id="5" name="AutoShape 4" descr="Output image">
            <a:extLst>
              <a:ext uri="{FF2B5EF4-FFF2-40B4-BE49-F238E27FC236}">
                <a16:creationId xmlns:a16="http://schemas.microsoft.com/office/drawing/2014/main" id="{5548421B-AABE-87F5-F373-F25F2844A428}"/>
              </a:ext>
            </a:extLst>
          </p:cNvPr>
          <p:cNvSpPr>
            <a:spLocks noChangeAspect="1" noChangeArrowheads="1"/>
          </p:cNvSpPr>
          <p:nvPr/>
        </p:nvSpPr>
        <p:spPr bwMode="auto">
          <a:xfrm>
            <a:off x="5532120" y="3150877"/>
            <a:ext cx="6659880" cy="328484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TextBox 12">
            <a:extLst>
              <a:ext uri="{FF2B5EF4-FFF2-40B4-BE49-F238E27FC236}">
                <a16:creationId xmlns:a16="http://schemas.microsoft.com/office/drawing/2014/main" id="{66EA8D9F-C7D5-39CB-4E65-2B976AD8D2BD}"/>
              </a:ext>
            </a:extLst>
          </p:cNvPr>
          <p:cNvSpPr txBox="1"/>
          <p:nvPr/>
        </p:nvSpPr>
        <p:spPr>
          <a:xfrm>
            <a:off x="6095999" y="3227082"/>
            <a:ext cx="5634443" cy="261610"/>
          </a:xfrm>
          <a:prstGeom prst="rect">
            <a:avLst/>
          </a:prstGeom>
          <a:noFill/>
        </p:spPr>
        <p:txBody>
          <a:bodyPr wrap="square">
            <a:spAutoFit/>
          </a:bodyPr>
          <a:lstStyle/>
          <a:p>
            <a:pPr algn="l">
              <a:buNone/>
            </a:pPr>
            <a:endParaRPr lang="en-US" sz="1100" b="0" i="0" u="none" strike="noStrike" dirty="0">
              <a:solidFill>
                <a:srgbClr val="000000"/>
              </a:solidFill>
              <a:effectLst/>
            </a:endParaRPr>
          </a:p>
        </p:txBody>
      </p:sp>
      <p:pic>
        <p:nvPicPr>
          <p:cNvPr id="10" name="Picture 9" descr="A screenshot of a graph&#10;&#10;AI-generated content may be incorrect.">
            <a:extLst>
              <a:ext uri="{FF2B5EF4-FFF2-40B4-BE49-F238E27FC236}">
                <a16:creationId xmlns:a16="http://schemas.microsoft.com/office/drawing/2014/main" id="{D91D5088-CCE5-A091-9A7E-03F573D0B102}"/>
              </a:ext>
            </a:extLst>
          </p:cNvPr>
          <p:cNvPicPr>
            <a:picLocks noChangeAspect="1"/>
          </p:cNvPicPr>
          <p:nvPr/>
        </p:nvPicPr>
        <p:blipFill>
          <a:blip r:embed="rId4"/>
          <a:stretch>
            <a:fillRect/>
          </a:stretch>
        </p:blipFill>
        <p:spPr>
          <a:xfrm>
            <a:off x="1209548" y="1109062"/>
            <a:ext cx="4514777" cy="5124961"/>
          </a:xfrm>
          <a:prstGeom prst="rect">
            <a:avLst/>
          </a:prstGeom>
        </p:spPr>
      </p:pic>
      <p:pic>
        <p:nvPicPr>
          <p:cNvPr id="14" name="Picture 13" descr="A screenshot of a graph&#10;&#10;AI-generated content may be incorrect.">
            <a:extLst>
              <a:ext uri="{FF2B5EF4-FFF2-40B4-BE49-F238E27FC236}">
                <a16:creationId xmlns:a16="http://schemas.microsoft.com/office/drawing/2014/main" id="{BE5E0E14-1185-5F95-E482-87FFF96253A5}"/>
              </a:ext>
            </a:extLst>
          </p:cNvPr>
          <p:cNvPicPr>
            <a:picLocks noChangeAspect="1"/>
          </p:cNvPicPr>
          <p:nvPr/>
        </p:nvPicPr>
        <p:blipFill>
          <a:blip r:embed="rId5"/>
          <a:stretch>
            <a:fillRect/>
          </a:stretch>
        </p:blipFill>
        <p:spPr>
          <a:xfrm>
            <a:off x="6120886" y="1339970"/>
            <a:ext cx="5198218" cy="4583502"/>
          </a:xfrm>
          <a:prstGeom prst="rect">
            <a:avLst/>
          </a:prstGeom>
        </p:spPr>
      </p:pic>
      <p:sp>
        <p:nvSpPr>
          <p:cNvPr id="17" name="TextBox 16">
            <a:extLst>
              <a:ext uri="{FF2B5EF4-FFF2-40B4-BE49-F238E27FC236}">
                <a16:creationId xmlns:a16="http://schemas.microsoft.com/office/drawing/2014/main" id="{E57150D5-E100-34C3-25A6-915C3596DBF7}"/>
              </a:ext>
            </a:extLst>
          </p:cNvPr>
          <p:cNvSpPr txBox="1"/>
          <p:nvPr/>
        </p:nvSpPr>
        <p:spPr>
          <a:xfrm>
            <a:off x="2317422" y="6304919"/>
            <a:ext cx="2299027" cy="261610"/>
          </a:xfrm>
          <a:prstGeom prst="rect">
            <a:avLst/>
          </a:prstGeom>
          <a:noFill/>
        </p:spPr>
        <p:txBody>
          <a:bodyPr wrap="none" rtlCol="0">
            <a:spAutoFit/>
          </a:bodyPr>
          <a:lstStyle/>
          <a:p>
            <a:r>
              <a:rPr lang="en-US" sz="1100" dirty="0">
                <a:latin typeface="Times New Roman" panose="02020603050405020304" pitchFamily="18" charset="0"/>
                <a:cs typeface="Times New Roman" panose="02020603050405020304" pitchFamily="18" charset="0"/>
              </a:rPr>
              <a:t>Fig (1) P100 Utilization graph (DNS)</a:t>
            </a:r>
          </a:p>
        </p:txBody>
      </p:sp>
      <p:sp>
        <p:nvSpPr>
          <p:cNvPr id="18" name="TextBox 17">
            <a:extLst>
              <a:ext uri="{FF2B5EF4-FFF2-40B4-BE49-F238E27FC236}">
                <a16:creationId xmlns:a16="http://schemas.microsoft.com/office/drawing/2014/main" id="{382586CC-3233-6D8F-EF36-F9E9013735DD}"/>
              </a:ext>
            </a:extLst>
          </p:cNvPr>
          <p:cNvSpPr txBox="1"/>
          <p:nvPr/>
        </p:nvSpPr>
        <p:spPr>
          <a:xfrm>
            <a:off x="7485824" y="6221656"/>
            <a:ext cx="2323072" cy="261610"/>
          </a:xfrm>
          <a:prstGeom prst="rect">
            <a:avLst/>
          </a:prstGeom>
          <a:noFill/>
        </p:spPr>
        <p:txBody>
          <a:bodyPr wrap="none" rtlCol="0">
            <a:spAutoFit/>
          </a:bodyPr>
          <a:lstStyle/>
          <a:p>
            <a:r>
              <a:rPr lang="en-US" sz="1100" dirty="0">
                <a:latin typeface="Times New Roman" panose="02020603050405020304" pitchFamily="18" charset="0"/>
                <a:cs typeface="Times New Roman" panose="02020603050405020304" pitchFamily="18" charset="0"/>
              </a:rPr>
              <a:t>Fig (2) V100 Utilization graph (DNS)</a:t>
            </a:r>
          </a:p>
        </p:txBody>
      </p:sp>
    </p:spTree>
    <p:extLst>
      <p:ext uri="{BB962C8B-B14F-4D97-AF65-F5344CB8AC3E}">
        <p14:creationId xmlns:p14="http://schemas.microsoft.com/office/powerpoint/2010/main" val="21111089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7622D-EBEE-EB9C-0EEA-29BED4712A3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C570BF9-B124-D88C-83C7-C4BBFFB70356}"/>
              </a:ext>
            </a:extLst>
          </p:cNvPr>
          <p:cNvSpPr>
            <a:spLocks noGrp="1"/>
          </p:cNvSpPr>
          <p:nvPr>
            <p:ph type="title"/>
          </p:nvPr>
        </p:nvSpPr>
        <p:spPr>
          <a:xfrm>
            <a:off x="967870" y="212726"/>
            <a:ext cx="10515600" cy="604694"/>
          </a:xfrm>
        </p:spPr>
        <p:txBody>
          <a:bodyPr>
            <a:normAutofit/>
          </a:bodyPr>
          <a:lstStyle/>
          <a:p>
            <a:r>
              <a:rPr lang="en-US" sz="3200" dirty="0">
                <a:latin typeface="Times New Roman" panose="02020603050405020304" pitchFamily="18" charset="0"/>
                <a:cs typeface="Times New Roman" panose="02020603050405020304" pitchFamily="18" charset="0"/>
              </a:rPr>
              <a:t>DFN GPU Utilization Summary</a:t>
            </a:r>
          </a:p>
        </p:txBody>
      </p:sp>
      <p:pic>
        <p:nvPicPr>
          <p:cNvPr id="7" name="Content Placeholder 6" descr="A red letter n on a black background&#10;&#10;AI-generated content may be incorrect.">
            <a:extLst>
              <a:ext uri="{FF2B5EF4-FFF2-40B4-BE49-F238E27FC236}">
                <a16:creationId xmlns:a16="http://schemas.microsoft.com/office/drawing/2014/main" id="{F020677E-7008-E227-5749-5C8AFC99866F}"/>
              </a:ext>
            </a:extLst>
          </p:cNvPr>
          <p:cNvPicPr>
            <a:picLocks noGrp="1" noChangeAspect="1"/>
          </p:cNvPicPr>
          <p:nvPr>
            <p:ph idx="1"/>
          </p:nvPr>
        </p:nvPicPr>
        <p:blipFill>
          <a:blip r:embed="rId3"/>
          <a:stretch>
            <a:fillRect/>
          </a:stretch>
        </p:blipFill>
        <p:spPr>
          <a:xfrm>
            <a:off x="-94312" y="-92363"/>
            <a:ext cx="1062182" cy="1062182"/>
          </a:xfrm>
        </p:spPr>
      </p:pic>
      <p:sp>
        <p:nvSpPr>
          <p:cNvPr id="5" name="AutoShape 4" descr="Output image">
            <a:extLst>
              <a:ext uri="{FF2B5EF4-FFF2-40B4-BE49-F238E27FC236}">
                <a16:creationId xmlns:a16="http://schemas.microsoft.com/office/drawing/2014/main" id="{F4D8DB7A-762C-31FB-D966-985DC72B574B}"/>
              </a:ext>
            </a:extLst>
          </p:cNvPr>
          <p:cNvSpPr>
            <a:spLocks noChangeAspect="1" noChangeArrowheads="1"/>
          </p:cNvSpPr>
          <p:nvPr/>
        </p:nvSpPr>
        <p:spPr bwMode="auto">
          <a:xfrm>
            <a:off x="5532120" y="3150877"/>
            <a:ext cx="6659880" cy="328484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TextBox 12">
            <a:extLst>
              <a:ext uri="{FF2B5EF4-FFF2-40B4-BE49-F238E27FC236}">
                <a16:creationId xmlns:a16="http://schemas.microsoft.com/office/drawing/2014/main" id="{610BB85D-9EA8-4157-2992-F5FD6C55AB7E}"/>
              </a:ext>
            </a:extLst>
          </p:cNvPr>
          <p:cNvSpPr txBox="1"/>
          <p:nvPr/>
        </p:nvSpPr>
        <p:spPr>
          <a:xfrm>
            <a:off x="6095999" y="3227082"/>
            <a:ext cx="5634443" cy="261610"/>
          </a:xfrm>
          <a:prstGeom prst="rect">
            <a:avLst/>
          </a:prstGeom>
          <a:noFill/>
        </p:spPr>
        <p:txBody>
          <a:bodyPr wrap="square">
            <a:spAutoFit/>
          </a:bodyPr>
          <a:lstStyle/>
          <a:p>
            <a:pPr algn="l">
              <a:buNone/>
            </a:pPr>
            <a:endParaRPr lang="en-US" sz="1100" b="0" i="0" u="none" strike="noStrike" dirty="0">
              <a:solidFill>
                <a:srgbClr val="000000"/>
              </a:solidFill>
              <a:effectLst/>
            </a:endParaRPr>
          </a:p>
        </p:txBody>
      </p:sp>
      <p:sp>
        <p:nvSpPr>
          <p:cNvPr id="17" name="TextBox 16">
            <a:extLst>
              <a:ext uri="{FF2B5EF4-FFF2-40B4-BE49-F238E27FC236}">
                <a16:creationId xmlns:a16="http://schemas.microsoft.com/office/drawing/2014/main" id="{30044F21-3DF6-8237-2C83-59389CD3AE4A}"/>
              </a:ext>
            </a:extLst>
          </p:cNvPr>
          <p:cNvSpPr txBox="1"/>
          <p:nvPr/>
        </p:nvSpPr>
        <p:spPr>
          <a:xfrm>
            <a:off x="1209385" y="1634338"/>
            <a:ext cx="9773228" cy="3708708"/>
          </a:xfrm>
          <a:prstGeom prst="rect">
            <a:avLst/>
          </a:prstGeom>
          <a:noFill/>
        </p:spPr>
        <p:txBody>
          <a:bodyPr wrap="square" rtlCol="0">
            <a:spAutoFit/>
          </a:bodyPr>
          <a:lstStyle/>
          <a:p>
            <a:pPr marL="285750" indent="-285750" algn="l">
              <a:buFont typeface="Courier New" panose="02070309020205020404" pitchFamily="49" charset="0"/>
              <a:buChar char="o"/>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V100 outperformed P100 across all metrics, showing higher GPU utilization, faster throughput, and more stable power and temperature profiles during DFN training, especially when scaling from batch size 1 to 2.</a:t>
            </a:r>
          </a:p>
          <a:p>
            <a:pPr marL="285750" indent="-285750" algn="l">
              <a:buFont typeface="Courier New" panose="02070309020205020404" pitchFamily="49" charset="0"/>
              <a:buChar char="o"/>
            </a:pP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p>
            <a:pPr marL="285750" indent="-285750" algn="l">
              <a:buFont typeface="Courier New" panose="02070309020205020404" pitchFamily="49" charset="0"/>
              <a:buChar char="o"/>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Batch size 1 offered stable, low-memory training suitable for both GPUs, while batch size 2 improved efficiency on V100 but caused utilization drops and thermal variability on P100.</a:t>
            </a:r>
          </a:p>
          <a:p>
            <a:pPr marL="285750" indent="-285750" algn="l">
              <a:buFont typeface="Courier New" panose="02070309020205020404" pitchFamily="49" charset="0"/>
              <a:buChar char="o"/>
            </a:pP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p>
            <a:pPr marL="285750" indent="-285750" algn="l">
              <a:buFont typeface="Courier New" panose="02070309020205020404" pitchFamily="49" charset="0"/>
              <a:buChar char="o"/>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P100 showed performance degradation at batch size 2, with increased power draw and reduced throughput, highlighting its limitations under heavier batch processing.</a:t>
            </a:r>
          </a:p>
          <a:p>
            <a:pPr marL="285750" indent="-285750" algn="l">
              <a:buFont typeface="Courier New" panose="02070309020205020404" pitchFamily="49" charset="0"/>
              <a:buChar char="o"/>
            </a:pP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p>
            <a:pPr marL="285750" indent="-285750" algn="l">
              <a:buFont typeface="Courier New" panose="02070309020205020404" pitchFamily="49" charset="0"/>
              <a:buChar char="o"/>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MS-SNSD proved more demanding than MS-DNS, especially at batch size 2, where P100 struggled with longer samples, while V100 maintained consistent performance.</a:t>
            </a:r>
          </a:p>
          <a:p>
            <a:pPr marL="285750" indent="-285750" algn="l">
              <a:buFont typeface="Courier New" panose="02070309020205020404" pitchFamily="49" charset="0"/>
              <a:buChar char="o"/>
            </a:pP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p>
            <a:pPr marL="285750" indent="-285750" algn="l">
              <a:buFont typeface="Courier New" panose="02070309020205020404" pitchFamily="49" charset="0"/>
              <a:buChar char="o"/>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V100 is ideal for production-scale or high-throughput DFN training with larger batch sizes, whereas P100 is better suited for lightweight, batch size 1 training or edge simulation tasks.</a:t>
            </a:r>
          </a:p>
          <a:p>
            <a:endParaRPr lang="en-US" sz="1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50500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E9880-87CB-6D6E-4A99-20DB388E14A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4C8225F-D66A-A820-6AE7-AA674E86070D}"/>
              </a:ext>
            </a:extLst>
          </p:cNvPr>
          <p:cNvSpPr>
            <a:spLocks noGrp="1"/>
          </p:cNvSpPr>
          <p:nvPr>
            <p:ph type="title"/>
          </p:nvPr>
        </p:nvSpPr>
        <p:spPr>
          <a:xfrm>
            <a:off x="967870" y="212726"/>
            <a:ext cx="10515600" cy="604694"/>
          </a:xfrm>
        </p:spPr>
        <p:txBody>
          <a:bodyPr>
            <a:normAutofit/>
          </a:bodyPr>
          <a:lstStyle/>
          <a:p>
            <a:r>
              <a:rPr lang="en-US" sz="3200" dirty="0">
                <a:latin typeface="Times New Roman" panose="02020603050405020304" pitchFamily="18" charset="0"/>
                <a:cs typeface="Times New Roman" panose="02020603050405020304" pitchFamily="18" charset="0"/>
              </a:rPr>
              <a:t>Wave U Net</a:t>
            </a:r>
          </a:p>
        </p:txBody>
      </p:sp>
      <p:pic>
        <p:nvPicPr>
          <p:cNvPr id="7" name="Content Placeholder 6" descr="A red letter n on a black background&#10;&#10;AI-generated content may be incorrect.">
            <a:extLst>
              <a:ext uri="{FF2B5EF4-FFF2-40B4-BE49-F238E27FC236}">
                <a16:creationId xmlns:a16="http://schemas.microsoft.com/office/drawing/2014/main" id="{ECEF0637-0149-9898-9C6E-5026AF5F0D64}"/>
              </a:ext>
            </a:extLst>
          </p:cNvPr>
          <p:cNvPicPr>
            <a:picLocks noGrp="1" noChangeAspect="1"/>
          </p:cNvPicPr>
          <p:nvPr>
            <p:ph idx="1"/>
          </p:nvPr>
        </p:nvPicPr>
        <p:blipFill>
          <a:blip r:embed="rId3"/>
          <a:stretch>
            <a:fillRect/>
          </a:stretch>
        </p:blipFill>
        <p:spPr>
          <a:xfrm>
            <a:off x="-94312" y="-92363"/>
            <a:ext cx="1062182" cy="1062182"/>
          </a:xfrm>
        </p:spPr>
      </p:pic>
      <p:sp>
        <p:nvSpPr>
          <p:cNvPr id="5" name="AutoShape 4" descr="Output image">
            <a:extLst>
              <a:ext uri="{FF2B5EF4-FFF2-40B4-BE49-F238E27FC236}">
                <a16:creationId xmlns:a16="http://schemas.microsoft.com/office/drawing/2014/main" id="{6F5B6077-CE8F-7C2B-858F-4248C20C111C}"/>
              </a:ext>
            </a:extLst>
          </p:cNvPr>
          <p:cNvSpPr>
            <a:spLocks noChangeAspect="1" noChangeArrowheads="1"/>
          </p:cNvSpPr>
          <p:nvPr/>
        </p:nvSpPr>
        <p:spPr bwMode="auto">
          <a:xfrm>
            <a:off x="5532120" y="3150877"/>
            <a:ext cx="6659880" cy="328484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Subtitle 1">
            <a:extLst>
              <a:ext uri="{FF2B5EF4-FFF2-40B4-BE49-F238E27FC236}">
                <a16:creationId xmlns:a16="http://schemas.microsoft.com/office/drawing/2014/main" id="{AF1A1585-245F-008F-148C-562688E3F921}"/>
              </a:ext>
            </a:extLst>
          </p:cNvPr>
          <p:cNvSpPr txBox="1">
            <a:spLocks/>
          </p:cNvSpPr>
          <p:nvPr/>
        </p:nvSpPr>
        <p:spPr>
          <a:xfrm>
            <a:off x="3029081" y="1283631"/>
            <a:ext cx="7363990" cy="515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latin typeface="Times New Roman" panose="02020603050405020304" pitchFamily="18" charset="0"/>
                <a:cs typeface="Times New Roman" panose="02020603050405020304" pitchFamily="18" charset="0"/>
              </a:rPr>
              <a:t>What is Wave-U-Net ?</a:t>
            </a:r>
          </a:p>
          <a:p>
            <a:pPr lvl="1"/>
            <a:r>
              <a:rPr lang="en-US" sz="1800" i="1" dirty="0">
                <a:latin typeface="Times New Roman" panose="02020603050405020304" pitchFamily="18" charset="0"/>
                <a:cs typeface="Times New Roman" panose="02020603050405020304" pitchFamily="18" charset="0"/>
              </a:rPr>
              <a:t>Wave-U-Net: An End-to-End Audio Separation Model</a:t>
            </a:r>
          </a:p>
          <a:p>
            <a:pPr lvl="1"/>
            <a:r>
              <a:rPr lang="en-US" sz="1800" dirty="0">
                <a:latin typeface="Times New Roman" panose="02020603050405020304" pitchFamily="18" charset="0"/>
                <a:cs typeface="Times New Roman" panose="02020603050405020304" pitchFamily="18" charset="0"/>
              </a:rPr>
              <a:t>Operated on direct waveforms (1D audio)</a:t>
            </a:r>
          </a:p>
          <a:p>
            <a:pPr lvl="1"/>
            <a:r>
              <a:rPr lang="en-US" sz="1800" dirty="0">
                <a:latin typeface="Times New Roman" panose="02020603050405020304" pitchFamily="18" charset="0"/>
                <a:cs typeface="Times New Roman" panose="02020603050405020304" pitchFamily="18" charset="0"/>
              </a:rPr>
              <a:t>Avoids STFT – learns phase + magnitude</a:t>
            </a:r>
          </a:p>
          <a:p>
            <a:pPr lvl="1"/>
            <a:r>
              <a:rPr lang="en-US" sz="1800" dirty="0">
                <a:latin typeface="Times New Roman" panose="02020603050405020304" pitchFamily="18" charset="0"/>
                <a:cs typeface="Times New Roman" panose="02020603050405020304" pitchFamily="18" charset="0"/>
              </a:rPr>
              <a:t>Based on U-Net architecture, adapted for 1D</a:t>
            </a:r>
          </a:p>
          <a:p>
            <a:pPr lvl="1"/>
            <a:r>
              <a:rPr lang="en-US" sz="1800" dirty="0">
                <a:latin typeface="Times New Roman" panose="02020603050405020304" pitchFamily="18" charset="0"/>
                <a:cs typeface="Times New Roman" panose="02020603050405020304" pitchFamily="18" charset="0"/>
              </a:rPr>
              <a:t>Uses down sampling &amp; up sampling with skip connections</a:t>
            </a:r>
          </a:p>
          <a:p>
            <a:pPr lvl="1"/>
            <a:r>
              <a:rPr lang="en-US" sz="1800" dirty="0">
                <a:latin typeface="Times New Roman" panose="02020603050405020304" pitchFamily="18" charset="0"/>
                <a:cs typeface="Times New Roman" panose="02020603050405020304" pitchFamily="18" charset="0"/>
              </a:rPr>
              <a:t>Captures both local patterns and global context</a:t>
            </a:r>
          </a:p>
          <a:p>
            <a:endParaRPr lang="en-US" sz="1800"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Why Wave-U-Net?</a:t>
            </a:r>
            <a:endParaRPr lang="en-US" sz="2400" dirty="0">
              <a:latin typeface="Times New Roman" panose="02020603050405020304" pitchFamily="18" charset="0"/>
              <a:cs typeface="Times New Roman" panose="02020603050405020304" pitchFamily="18" charset="0"/>
            </a:endParaRPr>
          </a:p>
          <a:p>
            <a:pPr lvl="1"/>
            <a:r>
              <a:rPr lang="en-US" sz="1800" dirty="0">
                <a:latin typeface="Times New Roman" panose="02020603050405020304" pitchFamily="18" charset="0"/>
                <a:cs typeface="Times New Roman" panose="02020603050405020304" pitchFamily="18" charset="0"/>
              </a:rPr>
              <a:t>Handles raw waveforms directly</a:t>
            </a:r>
          </a:p>
          <a:p>
            <a:pPr lvl="1"/>
            <a:r>
              <a:rPr lang="en-US" sz="1800" dirty="0">
                <a:latin typeface="Times New Roman" panose="02020603050405020304" pitchFamily="18" charset="0"/>
                <a:cs typeface="Times New Roman" panose="02020603050405020304" pitchFamily="18" charset="0"/>
              </a:rPr>
              <a:t>Learns both magnitude and phase</a:t>
            </a:r>
          </a:p>
          <a:p>
            <a:pPr lvl="1"/>
            <a:r>
              <a:rPr lang="en-US" sz="1800" dirty="0">
                <a:latin typeface="Times New Roman" panose="02020603050405020304" pitchFamily="18" charset="0"/>
                <a:cs typeface="Times New Roman" panose="02020603050405020304" pitchFamily="18" charset="0"/>
              </a:rPr>
              <a:t>minimal preprocessing</a:t>
            </a:r>
          </a:p>
        </p:txBody>
      </p:sp>
      <p:sp>
        <p:nvSpPr>
          <p:cNvPr id="4" name="Title 4">
            <a:extLst>
              <a:ext uri="{FF2B5EF4-FFF2-40B4-BE49-F238E27FC236}">
                <a16:creationId xmlns:a16="http://schemas.microsoft.com/office/drawing/2014/main" id="{F34B8196-2B9C-B548-65A1-B87AAFF09633}"/>
              </a:ext>
            </a:extLst>
          </p:cNvPr>
          <p:cNvSpPr txBox="1">
            <a:spLocks/>
          </p:cNvSpPr>
          <p:nvPr/>
        </p:nvSpPr>
        <p:spPr>
          <a:xfrm>
            <a:off x="1630587" y="486183"/>
            <a:ext cx="736399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3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21722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2EC0A-8FCC-B1D1-441C-5720E185BF1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114FCE0-37BE-CE8A-E46D-961AC3A5F6AB}"/>
              </a:ext>
            </a:extLst>
          </p:cNvPr>
          <p:cNvSpPr>
            <a:spLocks noGrp="1"/>
          </p:cNvSpPr>
          <p:nvPr>
            <p:ph type="title"/>
          </p:nvPr>
        </p:nvSpPr>
        <p:spPr>
          <a:xfrm>
            <a:off x="967870" y="212726"/>
            <a:ext cx="10515600" cy="604694"/>
          </a:xfrm>
        </p:spPr>
        <p:txBody>
          <a:bodyPr>
            <a:normAutofit/>
          </a:bodyPr>
          <a:lstStyle/>
          <a:p>
            <a:r>
              <a:rPr lang="en-US" sz="3200" dirty="0">
                <a:latin typeface="Times New Roman" panose="02020603050405020304" pitchFamily="18" charset="0"/>
                <a:cs typeface="Times New Roman" panose="02020603050405020304" pitchFamily="18" charset="0"/>
              </a:rPr>
              <a:t>Continued .. V100 Analysis</a:t>
            </a:r>
          </a:p>
        </p:txBody>
      </p:sp>
      <p:pic>
        <p:nvPicPr>
          <p:cNvPr id="7" name="Content Placeholder 6" descr="A red letter n on a black background&#10;&#10;AI-generated content may be incorrect.">
            <a:extLst>
              <a:ext uri="{FF2B5EF4-FFF2-40B4-BE49-F238E27FC236}">
                <a16:creationId xmlns:a16="http://schemas.microsoft.com/office/drawing/2014/main" id="{E5A3D02E-4122-B60B-3205-AFC208037BEE}"/>
              </a:ext>
            </a:extLst>
          </p:cNvPr>
          <p:cNvPicPr>
            <a:picLocks noGrp="1" noChangeAspect="1"/>
          </p:cNvPicPr>
          <p:nvPr>
            <p:ph idx="1"/>
          </p:nvPr>
        </p:nvPicPr>
        <p:blipFill>
          <a:blip r:embed="rId3"/>
          <a:stretch>
            <a:fillRect/>
          </a:stretch>
        </p:blipFill>
        <p:spPr>
          <a:xfrm>
            <a:off x="-94312" y="-92363"/>
            <a:ext cx="1062182" cy="1062182"/>
          </a:xfrm>
        </p:spPr>
      </p:pic>
      <p:sp>
        <p:nvSpPr>
          <p:cNvPr id="5" name="AutoShape 4" descr="Output image">
            <a:extLst>
              <a:ext uri="{FF2B5EF4-FFF2-40B4-BE49-F238E27FC236}">
                <a16:creationId xmlns:a16="http://schemas.microsoft.com/office/drawing/2014/main" id="{4A0A65CD-330C-D18E-D083-8D4A2525F38C}"/>
              </a:ext>
            </a:extLst>
          </p:cNvPr>
          <p:cNvSpPr>
            <a:spLocks noChangeAspect="1" noChangeArrowheads="1"/>
          </p:cNvSpPr>
          <p:nvPr/>
        </p:nvSpPr>
        <p:spPr bwMode="auto">
          <a:xfrm>
            <a:off x="5532120" y="3150877"/>
            <a:ext cx="6659880" cy="328484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TextBox 9">
            <a:extLst>
              <a:ext uri="{FF2B5EF4-FFF2-40B4-BE49-F238E27FC236}">
                <a16:creationId xmlns:a16="http://schemas.microsoft.com/office/drawing/2014/main" id="{AA9C7FEA-EC64-DDA3-7116-D32C69A7D690}"/>
              </a:ext>
            </a:extLst>
          </p:cNvPr>
          <p:cNvSpPr txBox="1"/>
          <p:nvPr/>
        </p:nvSpPr>
        <p:spPr>
          <a:xfrm>
            <a:off x="1896068" y="3203386"/>
            <a:ext cx="2273379"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Fig(1). Throughput on P100 for SNSD</a:t>
            </a:r>
          </a:p>
        </p:txBody>
      </p:sp>
      <p:sp>
        <p:nvSpPr>
          <p:cNvPr id="16" name="TextBox 15">
            <a:extLst>
              <a:ext uri="{FF2B5EF4-FFF2-40B4-BE49-F238E27FC236}">
                <a16:creationId xmlns:a16="http://schemas.microsoft.com/office/drawing/2014/main" id="{8EB84B13-E42E-C85C-A781-9B77D431AFD5}"/>
              </a:ext>
            </a:extLst>
          </p:cNvPr>
          <p:cNvSpPr txBox="1"/>
          <p:nvPr/>
        </p:nvSpPr>
        <p:spPr>
          <a:xfrm>
            <a:off x="1741482" y="6304919"/>
            <a:ext cx="2377888" cy="261610"/>
          </a:xfrm>
          <a:prstGeom prst="rect">
            <a:avLst/>
          </a:prstGeom>
          <a:noFill/>
        </p:spPr>
        <p:txBody>
          <a:bodyPr wrap="square">
            <a:spAutoFit/>
          </a:bodyPr>
          <a:lstStyle/>
          <a:p>
            <a:r>
              <a:rPr lang="en-US" sz="1100" dirty="0">
                <a:latin typeface="Times New Roman" panose="02020603050405020304" pitchFamily="18" charset="0"/>
                <a:cs typeface="Times New Roman" panose="02020603050405020304" pitchFamily="18" charset="0"/>
              </a:rPr>
              <a:t>Fig(2). Throughput on V100 for SNSD</a:t>
            </a:r>
          </a:p>
        </p:txBody>
      </p:sp>
      <p:sp>
        <p:nvSpPr>
          <p:cNvPr id="17" name="TextBox 16">
            <a:extLst>
              <a:ext uri="{FF2B5EF4-FFF2-40B4-BE49-F238E27FC236}">
                <a16:creationId xmlns:a16="http://schemas.microsoft.com/office/drawing/2014/main" id="{7D354472-CD3D-D319-AD4C-F53FC12C0180}"/>
              </a:ext>
            </a:extLst>
          </p:cNvPr>
          <p:cNvSpPr txBox="1"/>
          <p:nvPr/>
        </p:nvSpPr>
        <p:spPr>
          <a:xfrm>
            <a:off x="7289976" y="3275396"/>
            <a:ext cx="2377888" cy="261610"/>
          </a:xfrm>
          <a:prstGeom prst="rect">
            <a:avLst/>
          </a:prstGeom>
          <a:noFill/>
        </p:spPr>
        <p:txBody>
          <a:bodyPr wrap="square">
            <a:spAutoFit/>
          </a:bodyPr>
          <a:lstStyle/>
          <a:p>
            <a:r>
              <a:rPr lang="en-US" sz="1100" dirty="0">
                <a:latin typeface="Times New Roman" panose="02020603050405020304" pitchFamily="18" charset="0"/>
                <a:cs typeface="Times New Roman" panose="02020603050405020304" pitchFamily="18" charset="0"/>
              </a:rPr>
              <a:t>Fig(3). Throughput on P100 for DNS</a:t>
            </a:r>
          </a:p>
        </p:txBody>
      </p:sp>
      <p:sp>
        <p:nvSpPr>
          <p:cNvPr id="25" name="TextBox 24">
            <a:extLst>
              <a:ext uri="{FF2B5EF4-FFF2-40B4-BE49-F238E27FC236}">
                <a16:creationId xmlns:a16="http://schemas.microsoft.com/office/drawing/2014/main" id="{210AA30D-557D-59B8-EB30-E48E242AF7B0}"/>
              </a:ext>
            </a:extLst>
          </p:cNvPr>
          <p:cNvSpPr txBox="1"/>
          <p:nvPr/>
        </p:nvSpPr>
        <p:spPr>
          <a:xfrm>
            <a:off x="7621357" y="6304919"/>
            <a:ext cx="2377888" cy="261610"/>
          </a:xfrm>
          <a:prstGeom prst="rect">
            <a:avLst/>
          </a:prstGeom>
          <a:noFill/>
        </p:spPr>
        <p:txBody>
          <a:bodyPr wrap="square">
            <a:spAutoFit/>
          </a:bodyPr>
          <a:lstStyle/>
          <a:p>
            <a:r>
              <a:rPr lang="en-US" sz="1100" dirty="0">
                <a:latin typeface="Times New Roman" panose="02020603050405020304" pitchFamily="18" charset="0"/>
                <a:cs typeface="Times New Roman" panose="02020603050405020304" pitchFamily="18" charset="0"/>
              </a:rPr>
              <a:t>Fig(4). Throughput on V100 for DNS</a:t>
            </a:r>
          </a:p>
        </p:txBody>
      </p:sp>
      <p:pic>
        <p:nvPicPr>
          <p:cNvPr id="3" name="Picture 2" descr="A graph with orange lines&#10;&#10;AI-generated content may be incorrect.">
            <a:extLst>
              <a:ext uri="{FF2B5EF4-FFF2-40B4-BE49-F238E27FC236}">
                <a16:creationId xmlns:a16="http://schemas.microsoft.com/office/drawing/2014/main" id="{2837B373-6545-3BC0-8117-D0F0A2F3A8E7}"/>
              </a:ext>
            </a:extLst>
          </p:cNvPr>
          <p:cNvPicPr>
            <a:picLocks noChangeAspect="1"/>
          </p:cNvPicPr>
          <p:nvPr/>
        </p:nvPicPr>
        <p:blipFill>
          <a:blip r:embed="rId4"/>
          <a:stretch>
            <a:fillRect/>
          </a:stretch>
        </p:blipFill>
        <p:spPr>
          <a:xfrm>
            <a:off x="436779" y="844108"/>
            <a:ext cx="5417997" cy="2457588"/>
          </a:xfrm>
          <a:prstGeom prst="rect">
            <a:avLst/>
          </a:prstGeom>
        </p:spPr>
      </p:pic>
      <p:pic>
        <p:nvPicPr>
          <p:cNvPr id="6" name="Picture 5" descr="A graph with orange and white lines&#10;&#10;AI-generated content may be incorrect.">
            <a:extLst>
              <a:ext uri="{FF2B5EF4-FFF2-40B4-BE49-F238E27FC236}">
                <a16:creationId xmlns:a16="http://schemas.microsoft.com/office/drawing/2014/main" id="{A03C6A1D-BB2B-1C8B-6201-642DB7EC4B74}"/>
              </a:ext>
            </a:extLst>
          </p:cNvPr>
          <p:cNvPicPr>
            <a:picLocks noChangeAspect="1"/>
          </p:cNvPicPr>
          <p:nvPr/>
        </p:nvPicPr>
        <p:blipFill>
          <a:blip r:embed="rId5"/>
          <a:stretch>
            <a:fillRect/>
          </a:stretch>
        </p:blipFill>
        <p:spPr>
          <a:xfrm>
            <a:off x="6096000" y="845295"/>
            <a:ext cx="5218264" cy="2367841"/>
          </a:xfrm>
          <a:prstGeom prst="rect">
            <a:avLst/>
          </a:prstGeom>
        </p:spPr>
      </p:pic>
      <p:pic>
        <p:nvPicPr>
          <p:cNvPr id="12" name="Picture 11" descr="A screen shot of a graph&#10;&#10;AI-generated content may be incorrect.">
            <a:extLst>
              <a:ext uri="{FF2B5EF4-FFF2-40B4-BE49-F238E27FC236}">
                <a16:creationId xmlns:a16="http://schemas.microsoft.com/office/drawing/2014/main" id="{FE5CBEA0-80F7-A18C-CC81-E02C5E99C987}"/>
              </a:ext>
            </a:extLst>
          </p:cNvPr>
          <p:cNvPicPr>
            <a:picLocks noChangeAspect="1"/>
          </p:cNvPicPr>
          <p:nvPr/>
        </p:nvPicPr>
        <p:blipFill>
          <a:blip r:embed="rId6"/>
          <a:stretch>
            <a:fillRect/>
          </a:stretch>
        </p:blipFill>
        <p:spPr>
          <a:xfrm>
            <a:off x="523345" y="3671080"/>
            <a:ext cx="5331431" cy="2418322"/>
          </a:xfrm>
          <a:prstGeom prst="rect">
            <a:avLst/>
          </a:prstGeom>
        </p:spPr>
      </p:pic>
      <p:pic>
        <p:nvPicPr>
          <p:cNvPr id="15" name="Picture 14" descr="A graph with a red line&#10;&#10;AI-generated content may be incorrect.">
            <a:extLst>
              <a:ext uri="{FF2B5EF4-FFF2-40B4-BE49-F238E27FC236}">
                <a16:creationId xmlns:a16="http://schemas.microsoft.com/office/drawing/2014/main" id="{5392E369-3ABF-A035-879D-878059CBE2B9}"/>
              </a:ext>
            </a:extLst>
          </p:cNvPr>
          <p:cNvPicPr>
            <a:picLocks noChangeAspect="1"/>
          </p:cNvPicPr>
          <p:nvPr/>
        </p:nvPicPr>
        <p:blipFill>
          <a:blip r:embed="rId7"/>
          <a:stretch>
            <a:fillRect/>
          </a:stretch>
        </p:blipFill>
        <p:spPr>
          <a:xfrm>
            <a:off x="6265207" y="3694880"/>
            <a:ext cx="5218263" cy="2367841"/>
          </a:xfrm>
          <a:prstGeom prst="rect">
            <a:avLst/>
          </a:prstGeom>
        </p:spPr>
      </p:pic>
    </p:spTree>
    <p:extLst>
      <p:ext uri="{BB962C8B-B14F-4D97-AF65-F5344CB8AC3E}">
        <p14:creationId xmlns:p14="http://schemas.microsoft.com/office/powerpoint/2010/main" val="8255762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241CF-58BB-6F2D-A58C-5995901BAC5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B3888FF-789F-E044-6B63-FB322A9CCF2F}"/>
              </a:ext>
            </a:extLst>
          </p:cNvPr>
          <p:cNvSpPr>
            <a:spLocks noGrp="1"/>
          </p:cNvSpPr>
          <p:nvPr>
            <p:ph type="title"/>
          </p:nvPr>
        </p:nvSpPr>
        <p:spPr>
          <a:xfrm>
            <a:off x="967870" y="212726"/>
            <a:ext cx="10515600" cy="604694"/>
          </a:xfrm>
        </p:spPr>
        <p:txBody>
          <a:bodyPr>
            <a:normAutofit/>
          </a:bodyPr>
          <a:lstStyle/>
          <a:p>
            <a:r>
              <a:rPr lang="en-US" sz="3200" dirty="0">
                <a:latin typeface="Times New Roman" panose="02020603050405020304" pitchFamily="18" charset="0"/>
                <a:cs typeface="Times New Roman" panose="02020603050405020304" pitchFamily="18" charset="0"/>
              </a:rPr>
              <a:t>Continued ..</a:t>
            </a:r>
          </a:p>
        </p:txBody>
      </p:sp>
      <p:pic>
        <p:nvPicPr>
          <p:cNvPr id="7" name="Content Placeholder 6" descr="A red letter n on a black background&#10;&#10;AI-generated content may be incorrect.">
            <a:extLst>
              <a:ext uri="{FF2B5EF4-FFF2-40B4-BE49-F238E27FC236}">
                <a16:creationId xmlns:a16="http://schemas.microsoft.com/office/drawing/2014/main" id="{C65155A0-034C-9A09-0D4F-536623BF5952}"/>
              </a:ext>
            </a:extLst>
          </p:cNvPr>
          <p:cNvPicPr>
            <a:picLocks noGrp="1" noChangeAspect="1"/>
          </p:cNvPicPr>
          <p:nvPr>
            <p:ph idx="1"/>
          </p:nvPr>
        </p:nvPicPr>
        <p:blipFill>
          <a:blip r:embed="rId3"/>
          <a:stretch>
            <a:fillRect/>
          </a:stretch>
        </p:blipFill>
        <p:spPr>
          <a:xfrm>
            <a:off x="-94312" y="-92363"/>
            <a:ext cx="1062182" cy="1062182"/>
          </a:xfrm>
        </p:spPr>
      </p:pic>
      <p:sp>
        <p:nvSpPr>
          <p:cNvPr id="5" name="AutoShape 4" descr="Output image">
            <a:extLst>
              <a:ext uri="{FF2B5EF4-FFF2-40B4-BE49-F238E27FC236}">
                <a16:creationId xmlns:a16="http://schemas.microsoft.com/office/drawing/2014/main" id="{09C4B5F2-95EC-6878-E15B-F27F05279347}"/>
              </a:ext>
            </a:extLst>
          </p:cNvPr>
          <p:cNvSpPr>
            <a:spLocks noChangeAspect="1" noChangeArrowheads="1"/>
          </p:cNvSpPr>
          <p:nvPr/>
        </p:nvSpPr>
        <p:spPr bwMode="auto">
          <a:xfrm>
            <a:off x="5532120" y="3150877"/>
            <a:ext cx="6659880" cy="328484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TextBox 9">
            <a:extLst>
              <a:ext uri="{FF2B5EF4-FFF2-40B4-BE49-F238E27FC236}">
                <a16:creationId xmlns:a16="http://schemas.microsoft.com/office/drawing/2014/main" id="{E15A091F-908C-3FED-3855-61CD8B159C48}"/>
              </a:ext>
            </a:extLst>
          </p:cNvPr>
          <p:cNvSpPr txBox="1"/>
          <p:nvPr/>
        </p:nvSpPr>
        <p:spPr>
          <a:xfrm>
            <a:off x="1880668" y="3342992"/>
            <a:ext cx="2273379"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Fig(1). Throughput onP100 for SNSD</a:t>
            </a:r>
          </a:p>
        </p:txBody>
      </p:sp>
      <p:sp>
        <p:nvSpPr>
          <p:cNvPr id="17" name="TextBox 16">
            <a:extLst>
              <a:ext uri="{FF2B5EF4-FFF2-40B4-BE49-F238E27FC236}">
                <a16:creationId xmlns:a16="http://schemas.microsoft.com/office/drawing/2014/main" id="{B49DA950-14AB-6EFF-BDF1-CADBC51C601D}"/>
              </a:ext>
            </a:extLst>
          </p:cNvPr>
          <p:cNvSpPr txBox="1"/>
          <p:nvPr/>
        </p:nvSpPr>
        <p:spPr>
          <a:xfrm>
            <a:off x="7370788" y="3303276"/>
            <a:ext cx="2377888" cy="261610"/>
          </a:xfrm>
          <a:prstGeom prst="rect">
            <a:avLst/>
          </a:prstGeom>
          <a:noFill/>
        </p:spPr>
        <p:txBody>
          <a:bodyPr wrap="square">
            <a:spAutoFit/>
          </a:bodyPr>
          <a:lstStyle/>
          <a:p>
            <a:r>
              <a:rPr lang="en-US" sz="1100" dirty="0">
                <a:latin typeface="Times New Roman" panose="02020603050405020304" pitchFamily="18" charset="0"/>
                <a:cs typeface="Times New Roman" panose="02020603050405020304" pitchFamily="18" charset="0"/>
              </a:rPr>
              <a:t>Fig(3). Throughput on P100 for DNS</a:t>
            </a:r>
          </a:p>
        </p:txBody>
      </p:sp>
      <p:pic>
        <p:nvPicPr>
          <p:cNvPr id="3" name="Picture 2" descr="A screen shot of a graph&#10;&#10;AI-generated content may be incorrect.">
            <a:extLst>
              <a:ext uri="{FF2B5EF4-FFF2-40B4-BE49-F238E27FC236}">
                <a16:creationId xmlns:a16="http://schemas.microsoft.com/office/drawing/2014/main" id="{585238BD-9D25-10C9-B359-C4897F57B751}"/>
              </a:ext>
            </a:extLst>
          </p:cNvPr>
          <p:cNvPicPr>
            <a:picLocks noChangeAspect="1"/>
          </p:cNvPicPr>
          <p:nvPr/>
        </p:nvPicPr>
        <p:blipFill>
          <a:blip r:embed="rId4"/>
          <a:stretch>
            <a:fillRect/>
          </a:stretch>
        </p:blipFill>
        <p:spPr>
          <a:xfrm>
            <a:off x="219733" y="764375"/>
            <a:ext cx="5595247" cy="2538901"/>
          </a:xfrm>
          <a:prstGeom prst="rect">
            <a:avLst/>
          </a:prstGeom>
        </p:spPr>
      </p:pic>
      <p:pic>
        <p:nvPicPr>
          <p:cNvPr id="6" name="Picture 5" descr="A graph with a line graph&#10;&#10;AI-generated content may be incorrect.">
            <a:extLst>
              <a:ext uri="{FF2B5EF4-FFF2-40B4-BE49-F238E27FC236}">
                <a16:creationId xmlns:a16="http://schemas.microsoft.com/office/drawing/2014/main" id="{303DE103-7BA6-FFA8-7707-3DBCAAB579A5}"/>
              </a:ext>
            </a:extLst>
          </p:cNvPr>
          <p:cNvPicPr>
            <a:picLocks noChangeAspect="1"/>
          </p:cNvPicPr>
          <p:nvPr/>
        </p:nvPicPr>
        <p:blipFill>
          <a:blip r:embed="rId5"/>
          <a:stretch>
            <a:fillRect/>
          </a:stretch>
        </p:blipFill>
        <p:spPr>
          <a:xfrm>
            <a:off x="6014613" y="739368"/>
            <a:ext cx="5650355" cy="2563907"/>
          </a:xfrm>
          <a:prstGeom prst="rect">
            <a:avLst/>
          </a:prstGeom>
        </p:spPr>
      </p:pic>
      <p:graphicFrame>
        <p:nvGraphicFramePr>
          <p:cNvPr id="9" name="Table 8">
            <a:extLst>
              <a:ext uri="{FF2B5EF4-FFF2-40B4-BE49-F238E27FC236}">
                <a16:creationId xmlns:a16="http://schemas.microsoft.com/office/drawing/2014/main" id="{BA25682D-2DE0-AAF7-AE39-5C17CA548841}"/>
              </a:ext>
            </a:extLst>
          </p:cNvPr>
          <p:cNvGraphicFramePr>
            <a:graphicFrameLocks noGrp="1"/>
          </p:cNvGraphicFramePr>
          <p:nvPr>
            <p:extLst>
              <p:ext uri="{D42A27DB-BD31-4B8C-83A1-F6EECF244321}">
                <p14:modId xmlns:p14="http://schemas.microsoft.com/office/powerpoint/2010/main" val="2728595179"/>
              </p:ext>
            </p:extLst>
          </p:nvPr>
        </p:nvGraphicFramePr>
        <p:xfrm>
          <a:off x="967870" y="3636624"/>
          <a:ext cx="10478219" cy="3080390"/>
        </p:xfrm>
        <a:graphic>
          <a:graphicData uri="http://schemas.openxmlformats.org/drawingml/2006/table">
            <a:tbl>
              <a:tblPr/>
              <a:tblGrid>
                <a:gridCol w="2430946">
                  <a:extLst>
                    <a:ext uri="{9D8B030D-6E8A-4147-A177-3AD203B41FA5}">
                      <a16:colId xmlns:a16="http://schemas.microsoft.com/office/drawing/2014/main" val="3375421121"/>
                    </a:ext>
                  </a:extLst>
                </a:gridCol>
                <a:gridCol w="3967752">
                  <a:extLst>
                    <a:ext uri="{9D8B030D-6E8A-4147-A177-3AD203B41FA5}">
                      <a16:colId xmlns:a16="http://schemas.microsoft.com/office/drawing/2014/main" val="3974720268"/>
                    </a:ext>
                  </a:extLst>
                </a:gridCol>
                <a:gridCol w="4079521">
                  <a:extLst>
                    <a:ext uri="{9D8B030D-6E8A-4147-A177-3AD203B41FA5}">
                      <a16:colId xmlns:a16="http://schemas.microsoft.com/office/drawing/2014/main" val="2800887918"/>
                    </a:ext>
                  </a:extLst>
                </a:gridCol>
              </a:tblGrid>
              <a:tr h="403043">
                <a:tc>
                  <a:txBody>
                    <a:bodyPr/>
                    <a:lstStyle/>
                    <a:p>
                      <a:pPr algn="l" fontAlgn="b"/>
                      <a:r>
                        <a:rPr lang="en-US" sz="2200" b="1" i="0" u="none" strike="noStrike">
                          <a:solidFill>
                            <a:srgbClr val="000000"/>
                          </a:solidFill>
                          <a:effectLst/>
                          <a:latin typeface="Times New Roman" panose="02020603050405020304" pitchFamily="18" charset="0"/>
                          <a:cs typeface="Times New Roman" panose="02020603050405020304" pitchFamily="18" charset="0"/>
                        </a:rPr>
                        <a:t>V100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r>
                        <a:rPr lang="en-US" sz="2200" b="1" i="0" u="none" strike="noStrike">
                          <a:solidFill>
                            <a:srgbClr val="000000"/>
                          </a:solidFill>
                          <a:effectLst/>
                          <a:latin typeface="Times New Roman" panose="02020603050405020304" pitchFamily="18" charset="0"/>
                          <a:cs typeface="Times New Roman" panose="02020603050405020304" pitchFamily="18" charset="0"/>
                        </a:rPr>
                        <a:t>B1</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r>
                        <a:rPr lang="en-US" sz="2200" b="1" i="0" u="none" strike="noStrike">
                          <a:solidFill>
                            <a:srgbClr val="000000"/>
                          </a:solidFill>
                          <a:effectLst/>
                          <a:latin typeface="Times New Roman" panose="02020603050405020304" pitchFamily="18" charset="0"/>
                          <a:cs typeface="Times New Roman" panose="02020603050405020304" pitchFamily="18" charset="0"/>
                        </a:rPr>
                        <a:t>B4</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53029690"/>
                  </a:ext>
                </a:extLst>
              </a:tr>
              <a:tr h="392039">
                <a:tc>
                  <a:txBody>
                    <a:bodyPr/>
                    <a:lstStyle/>
                    <a:p>
                      <a:pPr algn="l" fontAlgn="b"/>
                      <a:r>
                        <a:rPr lang="en-US" sz="2200" b="1" i="0" u="none" strike="noStrike" dirty="0">
                          <a:solidFill>
                            <a:srgbClr val="000000"/>
                          </a:solidFill>
                          <a:effectLst/>
                          <a:latin typeface="Times New Roman" panose="02020603050405020304" pitchFamily="18" charset="0"/>
                          <a:cs typeface="Times New Roman" panose="02020603050405020304" pitchFamily="18" charset="0"/>
                        </a:rPr>
                        <a:t>Temperature</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a:solidFill>
                            <a:srgbClr val="000000"/>
                          </a:solidFill>
                          <a:effectLst/>
                          <a:latin typeface="Times New Roman" panose="02020603050405020304" pitchFamily="18" charset="0"/>
                          <a:cs typeface="Times New Roman" panose="02020603050405020304" pitchFamily="18" charset="0"/>
                        </a:rPr>
                        <a:t>63 - 64 °C stable</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a:solidFill>
                            <a:srgbClr val="000000"/>
                          </a:solidFill>
                          <a:effectLst/>
                          <a:latin typeface="Times New Roman" panose="02020603050405020304" pitchFamily="18" charset="0"/>
                          <a:cs typeface="Times New Roman" panose="02020603050405020304" pitchFamily="18" charset="0"/>
                        </a:rPr>
                        <a:t>64 - 66 °C fluctuating</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58711960"/>
                  </a:ext>
                </a:extLst>
              </a:tr>
              <a:tr h="392039">
                <a:tc>
                  <a:txBody>
                    <a:bodyPr/>
                    <a:lstStyle/>
                    <a:p>
                      <a:pPr algn="l" fontAlgn="b"/>
                      <a:r>
                        <a:rPr lang="en-US" sz="2200" b="1" i="0" u="none" strike="noStrike">
                          <a:solidFill>
                            <a:srgbClr val="000000"/>
                          </a:solidFill>
                          <a:effectLst/>
                          <a:latin typeface="Times New Roman" panose="02020603050405020304" pitchFamily="18" charset="0"/>
                          <a:cs typeface="Times New Roman" panose="02020603050405020304" pitchFamily="18" charset="0"/>
                        </a:rPr>
                        <a:t>Power</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dirty="0">
                          <a:solidFill>
                            <a:srgbClr val="000000"/>
                          </a:solidFill>
                          <a:effectLst/>
                          <a:latin typeface="Times New Roman" panose="02020603050405020304" pitchFamily="18" charset="0"/>
                          <a:cs typeface="Times New Roman" panose="02020603050405020304" pitchFamily="18" charset="0"/>
                        </a:rPr>
                        <a:t>170 - 190 W, more stable</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a:solidFill>
                            <a:srgbClr val="000000"/>
                          </a:solidFill>
                          <a:effectLst/>
                          <a:latin typeface="Times New Roman" panose="02020603050405020304" pitchFamily="18" charset="0"/>
                          <a:cs typeface="Times New Roman" panose="02020603050405020304" pitchFamily="18" charset="0"/>
                        </a:rPr>
                        <a:t>250 - 300W, more spikes</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85620689"/>
                  </a:ext>
                </a:extLst>
              </a:tr>
              <a:tr h="706148">
                <a:tc>
                  <a:txBody>
                    <a:bodyPr/>
                    <a:lstStyle/>
                    <a:p>
                      <a:pPr algn="l" fontAlgn="b"/>
                      <a:r>
                        <a:rPr lang="en-US" sz="2200" b="1" i="0" u="none" strike="noStrike">
                          <a:solidFill>
                            <a:srgbClr val="000000"/>
                          </a:solidFill>
                          <a:effectLst/>
                          <a:latin typeface="Times New Roman" panose="02020603050405020304" pitchFamily="18" charset="0"/>
                          <a:cs typeface="Times New Roman" panose="02020603050405020304" pitchFamily="18" charset="0"/>
                        </a:rPr>
                        <a:t>Memory Utilization</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a:solidFill>
                            <a:srgbClr val="000000"/>
                          </a:solidFill>
                          <a:effectLst/>
                          <a:latin typeface="Times New Roman" panose="02020603050405020304" pitchFamily="18" charset="0"/>
                          <a:cs typeface="Times New Roman" panose="02020603050405020304" pitchFamily="18" charset="0"/>
                        </a:rPr>
                        <a:t>35 - 37%</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a:solidFill>
                            <a:srgbClr val="000000"/>
                          </a:solidFill>
                          <a:effectLst/>
                          <a:latin typeface="Times New Roman" panose="02020603050405020304" pitchFamily="18" charset="0"/>
                          <a:cs typeface="Times New Roman" panose="02020603050405020304" pitchFamily="18" charset="0"/>
                        </a:rPr>
                        <a:t>44 - 46%</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40274833"/>
                  </a:ext>
                </a:extLst>
              </a:tr>
              <a:tr h="392039">
                <a:tc>
                  <a:txBody>
                    <a:bodyPr/>
                    <a:lstStyle/>
                    <a:p>
                      <a:pPr algn="l" fontAlgn="b"/>
                      <a:r>
                        <a:rPr lang="en-US" sz="2200" b="1" i="0" u="none" strike="noStrike">
                          <a:solidFill>
                            <a:srgbClr val="000000"/>
                          </a:solidFill>
                          <a:effectLst/>
                          <a:latin typeface="Times New Roman" panose="02020603050405020304" pitchFamily="18" charset="0"/>
                          <a:cs typeface="Times New Roman" panose="02020603050405020304" pitchFamily="18" charset="0"/>
                        </a:rPr>
                        <a:t>Memory Used</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a:solidFill>
                            <a:srgbClr val="000000"/>
                          </a:solidFill>
                          <a:effectLst/>
                          <a:latin typeface="Times New Roman" panose="02020603050405020304" pitchFamily="18" charset="0"/>
                          <a:cs typeface="Times New Roman" panose="02020603050405020304" pitchFamily="18" charset="0"/>
                        </a:rPr>
                        <a:t>1900 MiB</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a:solidFill>
                            <a:srgbClr val="000000"/>
                          </a:solidFill>
                          <a:effectLst/>
                          <a:latin typeface="Times New Roman" panose="02020603050405020304" pitchFamily="18" charset="0"/>
                          <a:cs typeface="Times New Roman" panose="02020603050405020304" pitchFamily="18" charset="0"/>
                        </a:rPr>
                        <a:t>3400 MiB</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78251568"/>
                  </a:ext>
                </a:extLst>
              </a:tr>
              <a:tr h="392039">
                <a:tc>
                  <a:txBody>
                    <a:bodyPr/>
                    <a:lstStyle/>
                    <a:p>
                      <a:pPr algn="l" fontAlgn="b"/>
                      <a:r>
                        <a:rPr lang="en-US" sz="2200" b="1" i="0" u="none" strike="noStrike">
                          <a:solidFill>
                            <a:srgbClr val="000000"/>
                          </a:solidFill>
                          <a:effectLst/>
                          <a:latin typeface="Times New Roman" panose="02020603050405020304" pitchFamily="18" charset="0"/>
                          <a:cs typeface="Times New Roman" panose="02020603050405020304" pitchFamily="18" charset="0"/>
                        </a:rPr>
                        <a:t>GPU Utilization</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a:solidFill>
                            <a:srgbClr val="000000"/>
                          </a:solidFill>
                          <a:effectLst/>
                          <a:latin typeface="Times New Roman" panose="02020603050405020304" pitchFamily="18" charset="0"/>
                          <a:cs typeface="Times New Roman" panose="02020603050405020304" pitchFamily="18" charset="0"/>
                        </a:rPr>
                        <a:t>85 - 90%, fewer drops</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a:solidFill>
                            <a:srgbClr val="000000"/>
                          </a:solidFill>
                          <a:effectLst/>
                          <a:latin typeface="Times New Roman" panose="02020603050405020304" pitchFamily="18" charset="0"/>
                          <a:cs typeface="Times New Roman" panose="02020603050405020304" pitchFamily="18" charset="0"/>
                        </a:rPr>
                        <a:t>92 - 95%, frequent spikes</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60655346"/>
                  </a:ext>
                </a:extLst>
              </a:tr>
              <a:tr h="403043">
                <a:tc>
                  <a:txBody>
                    <a:bodyPr/>
                    <a:lstStyle/>
                    <a:p>
                      <a:pPr algn="l" fontAlgn="b"/>
                      <a:r>
                        <a:rPr lang="en-US" sz="2200" b="1" i="0" u="none" strike="noStrike">
                          <a:solidFill>
                            <a:srgbClr val="000000"/>
                          </a:solidFill>
                          <a:effectLst/>
                          <a:latin typeface="Times New Roman" panose="02020603050405020304" pitchFamily="18" charset="0"/>
                          <a:cs typeface="Times New Roman" panose="02020603050405020304" pitchFamily="18" charset="0"/>
                        </a:rPr>
                        <a:t>Clock</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a:solidFill>
                            <a:srgbClr val="000000"/>
                          </a:solidFill>
                          <a:effectLst/>
                          <a:latin typeface="Times New Roman" panose="02020603050405020304" pitchFamily="18" charset="0"/>
                          <a:cs typeface="Times New Roman" panose="02020603050405020304" pitchFamily="18" charset="0"/>
                        </a:rPr>
                        <a:t>1530 MHz, slightly lower</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dirty="0">
                          <a:solidFill>
                            <a:srgbClr val="000000"/>
                          </a:solidFill>
                          <a:effectLst/>
                          <a:latin typeface="Times New Roman" panose="02020603050405020304" pitchFamily="18" charset="0"/>
                          <a:cs typeface="Times New Roman" panose="02020603050405020304" pitchFamily="18" charset="0"/>
                        </a:rPr>
                        <a:t>1530 MHz, stable at max</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21673465"/>
                  </a:ext>
                </a:extLst>
              </a:tr>
            </a:tbl>
          </a:graphicData>
        </a:graphic>
      </p:graphicFrame>
    </p:spTree>
    <p:extLst>
      <p:ext uri="{BB962C8B-B14F-4D97-AF65-F5344CB8AC3E}">
        <p14:creationId xmlns:p14="http://schemas.microsoft.com/office/powerpoint/2010/main" val="9501606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9D57E-B3CF-C593-07E1-2B43BC1A19E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08177CB-1509-F9BB-C67B-2B009A36733A}"/>
              </a:ext>
            </a:extLst>
          </p:cNvPr>
          <p:cNvSpPr>
            <a:spLocks noGrp="1"/>
          </p:cNvSpPr>
          <p:nvPr>
            <p:ph type="title"/>
          </p:nvPr>
        </p:nvSpPr>
        <p:spPr>
          <a:xfrm>
            <a:off x="967870" y="212726"/>
            <a:ext cx="10515600" cy="604694"/>
          </a:xfrm>
        </p:spPr>
        <p:txBody>
          <a:bodyPr>
            <a:normAutofit/>
          </a:bodyPr>
          <a:lstStyle/>
          <a:p>
            <a:r>
              <a:rPr lang="en-US" sz="3200">
                <a:latin typeface="Times New Roman" panose="02020603050405020304" pitchFamily="18" charset="0"/>
                <a:cs typeface="Times New Roman" panose="02020603050405020304" pitchFamily="18" charset="0"/>
              </a:rPr>
              <a:t>Continued .. P100 Analysis</a:t>
            </a:r>
            <a:endParaRPr lang="en-US" sz="3200" dirty="0">
              <a:latin typeface="Times New Roman" panose="02020603050405020304" pitchFamily="18" charset="0"/>
              <a:cs typeface="Times New Roman" panose="02020603050405020304" pitchFamily="18" charset="0"/>
            </a:endParaRPr>
          </a:p>
        </p:txBody>
      </p:sp>
      <p:pic>
        <p:nvPicPr>
          <p:cNvPr id="7" name="Content Placeholder 6" descr="A red letter n on a black background&#10;&#10;AI-generated content may be incorrect.">
            <a:extLst>
              <a:ext uri="{FF2B5EF4-FFF2-40B4-BE49-F238E27FC236}">
                <a16:creationId xmlns:a16="http://schemas.microsoft.com/office/drawing/2014/main" id="{83B7EC06-B002-8662-F066-A47D88B058B4}"/>
              </a:ext>
            </a:extLst>
          </p:cNvPr>
          <p:cNvPicPr>
            <a:picLocks noGrp="1" noChangeAspect="1"/>
          </p:cNvPicPr>
          <p:nvPr>
            <p:ph idx="1"/>
          </p:nvPr>
        </p:nvPicPr>
        <p:blipFill>
          <a:blip r:embed="rId3"/>
          <a:stretch>
            <a:fillRect/>
          </a:stretch>
        </p:blipFill>
        <p:spPr>
          <a:xfrm>
            <a:off x="-94312" y="-92363"/>
            <a:ext cx="1062182" cy="1062182"/>
          </a:xfrm>
        </p:spPr>
      </p:pic>
      <p:sp>
        <p:nvSpPr>
          <p:cNvPr id="5" name="AutoShape 4" descr="Output image">
            <a:extLst>
              <a:ext uri="{FF2B5EF4-FFF2-40B4-BE49-F238E27FC236}">
                <a16:creationId xmlns:a16="http://schemas.microsoft.com/office/drawing/2014/main" id="{26105CD5-4AB4-0A34-6352-8191D9B80810}"/>
              </a:ext>
            </a:extLst>
          </p:cNvPr>
          <p:cNvSpPr>
            <a:spLocks noChangeAspect="1" noChangeArrowheads="1"/>
          </p:cNvSpPr>
          <p:nvPr/>
        </p:nvSpPr>
        <p:spPr bwMode="auto">
          <a:xfrm>
            <a:off x="5532120" y="3150877"/>
            <a:ext cx="6659880" cy="328484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a:extLst>
              <a:ext uri="{FF2B5EF4-FFF2-40B4-BE49-F238E27FC236}">
                <a16:creationId xmlns:a16="http://schemas.microsoft.com/office/drawing/2014/main" id="{CF38C69C-6368-A662-33C4-3926E9503ECF}"/>
              </a:ext>
            </a:extLst>
          </p:cNvPr>
          <p:cNvPicPr>
            <a:picLocks noChangeAspect="1"/>
          </p:cNvPicPr>
          <p:nvPr/>
        </p:nvPicPr>
        <p:blipFill>
          <a:blip r:embed="rId4"/>
          <a:stretch>
            <a:fillRect/>
          </a:stretch>
        </p:blipFill>
        <p:spPr>
          <a:xfrm>
            <a:off x="330200" y="1274908"/>
            <a:ext cx="5050665" cy="2319053"/>
          </a:xfrm>
          <a:prstGeom prst="rect">
            <a:avLst/>
          </a:prstGeom>
        </p:spPr>
      </p:pic>
      <p:pic>
        <p:nvPicPr>
          <p:cNvPr id="20" name="Picture 19" descr="A graph showing a line of orange and yellow lines&#10;&#10;AI-generated content may be incorrect.">
            <a:extLst>
              <a:ext uri="{FF2B5EF4-FFF2-40B4-BE49-F238E27FC236}">
                <a16:creationId xmlns:a16="http://schemas.microsoft.com/office/drawing/2014/main" id="{4E8B8842-281D-638F-DFC9-FEA7A878211A}"/>
              </a:ext>
            </a:extLst>
          </p:cNvPr>
          <p:cNvPicPr>
            <a:picLocks noChangeAspect="1"/>
          </p:cNvPicPr>
          <p:nvPr/>
        </p:nvPicPr>
        <p:blipFill>
          <a:blip r:embed="rId5"/>
          <a:stretch>
            <a:fillRect/>
          </a:stretch>
        </p:blipFill>
        <p:spPr>
          <a:xfrm>
            <a:off x="6096000" y="1335152"/>
            <a:ext cx="6096000" cy="2799027"/>
          </a:xfrm>
          <a:prstGeom prst="rect">
            <a:avLst/>
          </a:prstGeom>
        </p:spPr>
      </p:pic>
      <p:pic>
        <p:nvPicPr>
          <p:cNvPr id="24" name="Picture 23" descr="A screen shot of a graph&#10;&#10;AI-generated content may be incorrect.">
            <a:extLst>
              <a:ext uri="{FF2B5EF4-FFF2-40B4-BE49-F238E27FC236}">
                <a16:creationId xmlns:a16="http://schemas.microsoft.com/office/drawing/2014/main" id="{782B4228-5948-E07B-5ACB-24C88A5B1302}"/>
              </a:ext>
            </a:extLst>
          </p:cNvPr>
          <p:cNvPicPr>
            <a:picLocks noChangeAspect="1"/>
          </p:cNvPicPr>
          <p:nvPr/>
        </p:nvPicPr>
        <p:blipFill>
          <a:blip r:embed="rId6"/>
          <a:stretch>
            <a:fillRect/>
          </a:stretch>
        </p:blipFill>
        <p:spPr>
          <a:xfrm>
            <a:off x="330200" y="4134179"/>
            <a:ext cx="5736610" cy="2602110"/>
          </a:xfrm>
          <a:prstGeom prst="rect">
            <a:avLst/>
          </a:prstGeom>
        </p:spPr>
      </p:pic>
      <p:pic>
        <p:nvPicPr>
          <p:cNvPr id="27" name="Picture 26" descr="A screen shot of a computer&#10;&#10;AI-generated content may be incorrect.">
            <a:extLst>
              <a:ext uri="{FF2B5EF4-FFF2-40B4-BE49-F238E27FC236}">
                <a16:creationId xmlns:a16="http://schemas.microsoft.com/office/drawing/2014/main" id="{4D1C0A57-986F-48CE-4FE3-3DCDB549EE98}"/>
              </a:ext>
            </a:extLst>
          </p:cNvPr>
          <p:cNvPicPr>
            <a:picLocks noChangeAspect="1"/>
          </p:cNvPicPr>
          <p:nvPr/>
        </p:nvPicPr>
        <p:blipFill>
          <a:blip r:embed="rId7"/>
          <a:stretch>
            <a:fillRect/>
          </a:stretch>
        </p:blipFill>
        <p:spPr>
          <a:xfrm>
            <a:off x="6225670" y="4160489"/>
            <a:ext cx="5667135" cy="2602110"/>
          </a:xfrm>
          <a:prstGeom prst="rect">
            <a:avLst/>
          </a:prstGeom>
        </p:spPr>
      </p:pic>
    </p:spTree>
    <p:extLst>
      <p:ext uri="{BB962C8B-B14F-4D97-AF65-F5344CB8AC3E}">
        <p14:creationId xmlns:p14="http://schemas.microsoft.com/office/powerpoint/2010/main" val="9801610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974E7-1D51-D594-2998-BDE5621585E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1DACEFC-4E78-7D2D-100D-F223C6D46F55}"/>
              </a:ext>
            </a:extLst>
          </p:cNvPr>
          <p:cNvSpPr>
            <a:spLocks noGrp="1"/>
          </p:cNvSpPr>
          <p:nvPr>
            <p:ph type="title"/>
          </p:nvPr>
        </p:nvSpPr>
        <p:spPr>
          <a:xfrm>
            <a:off x="967870" y="212726"/>
            <a:ext cx="10515600" cy="604694"/>
          </a:xfrm>
        </p:spPr>
        <p:txBody>
          <a:bodyPr>
            <a:normAutofit/>
          </a:bodyPr>
          <a:lstStyle/>
          <a:p>
            <a:r>
              <a:rPr lang="en-US" sz="3200">
                <a:latin typeface="Times New Roman" panose="02020603050405020304" pitchFamily="18" charset="0"/>
                <a:cs typeface="Times New Roman" panose="02020603050405020304" pitchFamily="18" charset="0"/>
              </a:rPr>
              <a:t>Continued .. P100 Analysis</a:t>
            </a:r>
            <a:endParaRPr lang="en-US" sz="3200" dirty="0">
              <a:latin typeface="Times New Roman" panose="02020603050405020304" pitchFamily="18" charset="0"/>
              <a:cs typeface="Times New Roman" panose="02020603050405020304" pitchFamily="18" charset="0"/>
            </a:endParaRPr>
          </a:p>
        </p:txBody>
      </p:sp>
      <p:pic>
        <p:nvPicPr>
          <p:cNvPr id="7" name="Content Placeholder 6" descr="A red letter n on a black background&#10;&#10;AI-generated content may be incorrect.">
            <a:extLst>
              <a:ext uri="{FF2B5EF4-FFF2-40B4-BE49-F238E27FC236}">
                <a16:creationId xmlns:a16="http://schemas.microsoft.com/office/drawing/2014/main" id="{D82480E5-2ED6-50F4-5C3E-D2E17D0DAA76}"/>
              </a:ext>
            </a:extLst>
          </p:cNvPr>
          <p:cNvPicPr>
            <a:picLocks noGrp="1" noChangeAspect="1"/>
          </p:cNvPicPr>
          <p:nvPr>
            <p:ph idx="1"/>
          </p:nvPr>
        </p:nvPicPr>
        <p:blipFill>
          <a:blip r:embed="rId3"/>
          <a:stretch>
            <a:fillRect/>
          </a:stretch>
        </p:blipFill>
        <p:spPr>
          <a:xfrm>
            <a:off x="-94312" y="-92363"/>
            <a:ext cx="1062182" cy="1062182"/>
          </a:xfrm>
        </p:spPr>
      </p:pic>
      <p:sp>
        <p:nvSpPr>
          <p:cNvPr id="5" name="AutoShape 4" descr="Output image">
            <a:extLst>
              <a:ext uri="{FF2B5EF4-FFF2-40B4-BE49-F238E27FC236}">
                <a16:creationId xmlns:a16="http://schemas.microsoft.com/office/drawing/2014/main" id="{DB6F6266-11B9-DCF2-39A4-53619B52EF14}"/>
              </a:ext>
            </a:extLst>
          </p:cNvPr>
          <p:cNvSpPr>
            <a:spLocks noChangeAspect="1" noChangeArrowheads="1"/>
          </p:cNvSpPr>
          <p:nvPr/>
        </p:nvSpPr>
        <p:spPr bwMode="auto">
          <a:xfrm>
            <a:off x="5532120" y="3150877"/>
            <a:ext cx="6659880" cy="328484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descr="A graph with orange lines&#10;&#10;AI-generated content may be incorrect.">
            <a:extLst>
              <a:ext uri="{FF2B5EF4-FFF2-40B4-BE49-F238E27FC236}">
                <a16:creationId xmlns:a16="http://schemas.microsoft.com/office/drawing/2014/main" id="{3683F272-57E6-9E2D-36C7-B0FD5E359DB9}"/>
              </a:ext>
            </a:extLst>
          </p:cNvPr>
          <p:cNvPicPr>
            <a:picLocks noChangeAspect="1"/>
          </p:cNvPicPr>
          <p:nvPr/>
        </p:nvPicPr>
        <p:blipFill>
          <a:blip r:embed="rId4"/>
          <a:stretch>
            <a:fillRect/>
          </a:stretch>
        </p:blipFill>
        <p:spPr>
          <a:xfrm>
            <a:off x="232012" y="1274908"/>
            <a:ext cx="5586484" cy="2534925"/>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D93ADC36-9469-4A3A-93C1-30E34C11FBA8}"/>
              </a:ext>
            </a:extLst>
          </p:cNvPr>
          <p:cNvPicPr>
            <a:picLocks noChangeAspect="1"/>
          </p:cNvPicPr>
          <p:nvPr/>
        </p:nvPicPr>
        <p:blipFill>
          <a:blip r:embed="rId5"/>
          <a:stretch>
            <a:fillRect/>
          </a:stretch>
        </p:blipFill>
        <p:spPr>
          <a:xfrm>
            <a:off x="6096000" y="1391639"/>
            <a:ext cx="5266584" cy="2418194"/>
          </a:xfrm>
          <a:prstGeom prst="rect">
            <a:avLst/>
          </a:prstGeom>
        </p:spPr>
      </p:pic>
      <p:graphicFrame>
        <p:nvGraphicFramePr>
          <p:cNvPr id="11" name="Table 10">
            <a:extLst>
              <a:ext uri="{FF2B5EF4-FFF2-40B4-BE49-F238E27FC236}">
                <a16:creationId xmlns:a16="http://schemas.microsoft.com/office/drawing/2014/main" id="{34D74BCD-31CB-7DB4-26EF-78B850C2CC03}"/>
              </a:ext>
            </a:extLst>
          </p:cNvPr>
          <p:cNvGraphicFramePr>
            <a:graphicFrameLocks noGrp="1"/>
          </p:cNvGraphicFramePr>
          <p:nvPr>
            <p:extLst>
              <p:ext uri="{D42A27DB-BD31-4B8C-83A1-F6EECF244321}">
                <p14:modId xmlns:p14="http://schemas.microsoft.com/office/powerpoint/2010/main" val="716171791"/>
              </p:ext>
            </p:extLst>
          </p:nvPr>
        </p:nvGraphicFramePr>
        <p:xfrm>
          <a:off x="828136" y="3973902"/>
          <a:ext cx="10534448" cy="2671372"/>
        </p:xfrm>
        <a:graphic>
          <a:graphicData uri="http://schemas.openxmlformats.org/drawingml/2006/table">
            <a:tbl>
              <a:tblPr/>
              <a:tblGrid>
                <a:gridCol w="2443992">
                  <a:extLst>
                    <a:ext uri="{9D8B030D-6E8A-4147-A177-3AD203B41FA5}">
                      <a16:colId xmlns:a16="http://schemas.microsoft.com/office/drawing/2014/main" val="2377198613"/>
                    </a:ext>
                  </a:extLst>
                </a:gridCol>
                <a:gridCol w="3989045">
                  <a:extLst>
                    <a:ext uri="{9D8B030D-6E8A-4147-A177-3AD203B41FA5}">
                      <a16:colId xmlns:a16="http://schemas.microsoft.com/office/drawing/2014/main" val="1476273497"/>
                    </a:ext>
                  </a:extLst>
                </a:gridCol>
                <a:gridCol w="4101411">
                  <a:extLst>
                    <a:ext uri="{9D8B030D-6E8A-4147-A177-3AD203B41FA5}">
                      <a16:colId xmlns:a16="http://schemas.microsoft.com/office/drawing/2014/main" val="259600288"/>
                    </a:ext>
                  </a:extLst>
                </a:gridCol>
              </a:tblGrid>
              <a:tr h="389216">
                <a:tc>
                  <a:txBody>
                    <a:bodyPr/>
                    <a:lstStyle/>
                    <a:p>
                      <a:pPr algn="l" fontAlgn="b"/>
                      <a:r>
                        <a:rPr lang="en-US" sz="2200" b="1" i="0" u="none" strike="noStrike" dirty="0">
                          <a:solidFill>
                            <a:srgbClr val="000000"/>
                          </a:solidFill>
                          <a:effectLst/>
                          <a:latin typeface="Times New Roman" panose="02020603050405020304" pitchFamily="18" charset="0"/>
                          <a:cs typeface="Times New Roman" panose="02020603050405020304" pitchFamily="18" charset="0"/>
                        </a:rPr>
                        <a:t>P100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r>
                        <a:rPr lang="en-US" sz="2200" b="1" i="0" u="none" strike="noStrike">
                          <a:solidFill>
                            <a:srgbClr val="000000"/>
                          </a:solidFill>
                          <a:effectLst/>
                          <a:latin typeface="Times New Roman" panose="02020603050405020304" pitchFamily="18" charset="0"/>
                          <a:cs typeface="Times New Roman" panose="02020603050405020304" pitchFamily="18" charset="0"/>
                        </a:rPr>
                        <a:t>B1</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r>
                        <a:rPr lang="en-US" sz="2200" b="1" i="0" u="none" strike="noStrike">
                          <a:solidFill>
                            <a:srgbClr val="000000"/>
                          </a:solidFill>
                          <a:effectLst/>
                          <a:latin typeface="Times New Roman" panose="02020603050405020304" pitchFamily="18" charset="0"/>
                          <a:cs typeface="Times New Roman" panose="02020603050405020304" pitchFamily="18" charset="0"/>
                        </a:rPr>
                        <a:t>B4</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86576343"/>
                  </a:ext>
                </a:extLst>
              </a:tr>
              <a:tr h="378588">
                <a:tc>
                  <a:txBody>
                    <a:bodyPr/>
                    <a:lstStyle/>
                    <a:p>
                      <a:pPr algn="l" fontAlgn="b"/>
                      <a:r>
                        <a:rPr lang="en-US" sz="2200" b="1" i="0" u="none" strike="noStrike">
                          <a:solidFill>
                            <a:srgbClr val="000000"/>
                          </a:solidFill>
                          <a:effectLst/>
                          <a:latin typeface="Times New Roman" panose="02020603050405020304" pitchFamily="18" charset="0"/>
                          <a:cs typeface="Times New Roman" panose="02020603050405020304" pitchFamily="18" charset="0"/>
                        </a:rPr>
                        <a:t>Temperature</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dirty="0">
                          <a:solidFill>
                            <a:srgbClr val="000000"/>
                          </a:solidFill>
                          <a:effectLst/>
                          <a:latin typeface="Times New Roman" panose="02020603050405020304" pitchFamily="18" charset="0"/>
                          <a:cs typeface="Times New Roman" panose="02020603050405020304" pitchFamily="18" charset="0"/>
                        </a:rPr>
                        <a:t>52 - 54 °C stable</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a:solidFill>
                            <a:srgbClr val="000000"/>
                          </a:solidFill>
                          <a:effectLst/>
                          <a:latin typeface="Times New Roman" panose="02020603050405020304" pitchFamily="18" charset="0"/>
                          <a:cs typeface="Times New Roman" panose="02020603050405020304" pitchFamily="18" charset="0"/>
                        </a:rPr>
                        <a:t>63 - 64 °C stable</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09206297"/>
                  </a:ext>
                </a:extLst>
              </a:tr>
              <a:tr h="378588">
                <a:tc>
                  <a:txBody>
                    <a:bodyPr/>
                    <a:lstStyle/>
                    <a:p>
                      <a:pPr algn="l" fontAlgn="b"/>
                      <a:r>
                        <a:rPr lang="en-US" sz="2200" b="1" i="0" u="none" strike="noStrike">
                          <a:solidFill>
                            <a:srgbClr val="000000"/>
                          </a:solidFill>
                          <a:effectLst/>
                          <a:latin typeface="Times New Roman" panose="02020603050405020304" pitchFamily="18" charset="0"/>
                          <a:cs typeface="Times New Roman" panose="02020603050405020304" pitchFamily="18" charset="0"/>
                        </a:rPr>
                        <a:t>Power</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dirty="0">
                          <a:solidFill>
                            <a:srgbClr val="000000"/>
                          </a:solidFill>
                          <a:effectLst/>
                          <a:latin typeface="Times New Roman" panose="02020603050405020304" pitchFamily="18" charset="0"/>
                          <a:cs typeface="Times New Roman" panose="02020603050405020304" pitchFamily="18" charset="0"/>
                        </a:rPr>
                        <a:t>100 - 130W, lower overall</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a:solidFill>
                            <a:srgbClr val="000000"/>
                          </a:solidFill>
                          <a:effectLst/>
                          <a:latin typeface="Times New Roman" panose="02020603050405020304" pitchFamily="18" charset="0"/>
                          <a:cs typeface="Times New Roman" panose="02020603050405020304" pitchFamily="18" charset="0"/>
                        </a:rPr>
                        <a:t>140 - 170W, more power draw</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21093748"/>
                  </a:ext>
                </a:extLst>
              </a:tr>
              <a:tr h="378588">
                <a:tc>
                  <a:txBody>
                    <a:bodyPr/>
                    <a:lstStyle/>
                    <a:p>
                      <a:pPr algn="l" fontAlgn="b"/>
                      <a:r>
                        <a:rPr lang="en-US" sz="2200" b="1" i="0" u="none" strike="noStrike">
                          <a:solidFill>
                            <a:srgbClr val="000000"/>
                          </a:solidFill>
                          <a:effectLst/>
                          <a:latin typeface="Times New Roman" panose="02020603050405020304" pitchFamily="18" charset="0"/>
                          <a:cs typeface="Times New Roman" panose="02020603050405020304" pitchFamily="18" charset="0"/>
                        </a:rPr>
                        <a:t>Memory Utilization</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a:solidFill>
                            <a:srgbClr val="000000"/>
                          </a:solidFill>
                          <a:effectLst/>
                          <a:latin typeface="Times New Roman" panose="02020603050405020304" pitchFamily="18" charset="0"/>
                          <a:cs typeface="Times New Roman" panose="02020603050405020304" pitchFamily="18" charset="0"/>
                        </a:rPr>
                        <a:t>22 - 26%</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a:solidFill>
                            <a:srgbClr val="000000"/>
                          </a:solidFill>
                          <a:effectLst/>
                          <a:latin typeface="Times New Roman" panose="02020603050405020304" pitchFamily="18" charset="0"/>
                          <a:cs typeface="Times New Roman" panose="02020603050405020304" pitchFamily="18" charset="0"/>
                        </a:rPr>
                        <a:t>26 - 27%</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12304372"/>
                  </a:ext>
                </a:extLst>
              </a:tr>
              <a:tr h="378588">
                <a:tc>
                  <a:txBody>
                    <a:bodyPr/>
                    <a:lstStyle/>
                    <a:p>
                      <a:pPr algn="l" fontAlgn="b"/>
                      <a:r>
                        <a:rPr lang="en-US" sz="2200" b="1" i="0" u="none" strike="noStrike">
                          <a:solidFill>
                            <a:srgbClr val="000000"/>
                          </a:solidFill>
                          <a:effectLst/>
                          <a:latin typeface="Times New Roman" panose="02020603050405020304" pitchFamily="18" charset="0"/>
                          <a:cs typeface="Times New Roman" panose="02020603050405020304" pitchFamily="18" charset="0"/>
                        </a:rPr>
                        <a:t>Memory Used</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a:solidFill>
                            <a:srgbClr val="000000"/>
                          </a:solidFill>
                          <a:effectLst/>
                          <a:latin typeface="Times New Roman" panose="02020603050405020304" pitchFamily="18" charset="0"/>
                          <a:cs typeface="Times New Roman" panose="02020603050405020304" pitchFamily="18" charset="0"/>
                        </a:rPr>
                        <a:t>1900 MiB</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a:solidFill>
                            <a:srgbClr val="000000"/>
                          </a:solidFill>
                          <a:effectLst/>
                          <a:latin typeface="Times New Roman" panose="02020603050405020304" pitchFamily="18" charset="0"/>
                          <a:cs typeface="Times New Roman" panose="02020603050405020304" pitchFamily="18" charset="0"/>
                        </a:rPr>
                        <a:t>3600 MiB</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78708862"/>
                  </a:ext>
                </a:extLst>
              </a:tr>
              <a:tr h="378588">
                <a:tc>
                  <a:txBody>
                    <a:bodyPr/>
                    <a:lstStyle/>
                    <a:p>
                      <a:pPr algn="l" fontAlgn="b"/>
                      <a:r>
                        <a:rPr lang="en-US" sz="2200" b="1" i="0" u="none" strike="noStrike">
                          <a:solidFill>
                            <a:srgbClr val="000000"/>
                          </a:solidFill>
                          <a:effectLst/>
                          <a:latin typeface="Times New Roman" panose="02020603050405020304" pitchFamily="18" charset="0"/>
                          <a:cs typeface="Times New Roman" panose="02020603050405020304" pitchFamily="18" charset="0"/>
                        </a:rPr>
                        <a:t>GPU Utilization</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a:solidFill>
                            <a:srgbClr val="000000"/>
                          </a:solidFill>
                          <a:effectLst/>
                          <a:latin typeface="Times New Roman" panose="02020603050405020304" pitchFamily="18" charset="0"/>
                          <a:cs typeface="Times New Roman" panose="02020603050405020304" pitchFamily="18" charset="0"/>
                        </a:rPr>
                        <a:t>90 - 95%</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a:solidFill>
                            <a:srgbClr val="000000"/>
                          </a:solidFill>
                          <a:effectLst/>
                          <a:latin typeface="Times New Roman" panose="02020603050405020304" pitchFamily="18" charset="0"/>
                          <a:cs typeface="Times New Roman" panose="02020603050405020304" pitchFamily="18" charset="0"/>
                        </a:rPr>
                        <a:t>92  - 96%</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83112163"/>
                  </a:ext>
                </a:extLst>
              </a:tr>
              <a:tr h="389216">
                <a:tc>
                  <a:txBody>
                    <a:bodyPr/>
                    <a:lstStyle/>
                    <a:p>
                      <a:pPr algn="l" fontAlgn="b"/>
                      <a:r>
                        <a:rPr lang="en-US" sz="2200" b="1" i="0" u="none" strike="noStrike">
                          <a:solidFill>
                            <a:srgbClr val="000000"/>
                          </a:solidFill>
                          <a:effectLst/>
                          <a:latin typeface="Times New Roman" panose="02020603050405020304" pitchFamily="18" charset="0"/>
                          <a:cs typeface="Times New Roman" panose="02020603050405020304" pitchFamily="18" charset="0"/>
                        </a:rPr>
                        <a:t>Clock</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a:solidFill>
                            <a:srgbClr val="000000"/>
                          </a:solidFill>
                          <a:effectLst/>
                          <a:latin typeface="Times New Roman" panose="02020603050405020304" pitchFamily="18" charset="0"/>
                          <a:cs typeface="Times New Roman" panose="02020603050405020304" pitchFamily="18" charset="0"/>
                        </a:rPr>
                        <a:t>1300 MHz, stable</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dirty="0">
                          <a:solidFill>
                            <a:srgbClr val="000000"/>
                          </a:solidFill>
                          <a:effectLst/>
                          <a:latin typeface="Times New Roman" panose="02020603050405020304" pitchFamily="18" charset="0"/>
                          <a:cs typeface="Times New Roman" panose="02020603050405020304" pitchFamily="18" charset="0"/>
                        </a:rPr>
                        <a:t>1300 MHz, stable</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49720854"/>
                  </a:ext>
                </a:extLst>
              </a:tr>
            </a:tbl>
          </a:graphicData>
        </a:graphic>
      </p:graphicFrame>
    </p:spTree>
    <p:extLst>
      <p:ext uri="{BB962C8B-B14F-4D97-AF65-F5344CB8AC3E}">
        <p14:creationId xmlns:p14="http://schemas.microsoft.com/office/powerpoint/2010/main" val="8762434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5D69F-578B-F9B6-CA0D-FD003504F78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00C4E8F-8711-D453-62C8-69ECD096EB5E}"/>
              </a:ext>
            </a:extLst>
          </p:cNvPr>
          <p:cNvSpPr>
            <a:spLocks noGrp="1"/>
          </p:cNvSpPr>
          <p:nvPr>
            <p:ph type="title"/>
          </p:nvPr>
        </p:nvSpPr>
        <p:spPr>
          <a:xfrm>
            <a:off x="967870" y="212726"/>
            <a:ext cx="10515600" cy="604694"/>
          </a:xfrm>
        </p:spPr>
        <p:txBody>
          <a:bodyPr>
            <a:normAutofit/>
          </a:bodyPr>
          <a:lstStyle/>
          <a:p>
            <a:r>
              <a:rPr lang="en-US" sz="3200" dirty="0">
                <a:latin typeface="Times New Roman" panose="02020603050405020304" pitchFamily="18" charset="0"/>
                <a:cs typeface="Times New Roman" panose="02020603050405020304" pitchFamily="18" charset="0"/>
              </a:rPr>
              <a:t>Final Comparison : P100 vs V100</a:t>
            </a:r>
          </a:p>
        </p:txBody>
      </p:sp>
      <p:pic>
        <p:nvPicPr>
          <p:cNvPr id="7" name="Content Placeholder 6" descr="A red letter n on a black background&#10;&#10;AI-generated content may be incorrect.">
            <a:extLst>
              <a:ext uri="{FF2B5EF4-FFF2-40B4-BE49-F238E27FC236}">
                <a16:creationId xmlns:a16="http://schemas.microsoft.com/office/drawing/2014/main" id="{24CA6676-8369-13C1-AF1F-01B867F79C99}"/>
              </a:ext>
            </a:extLst>
          </p:cNvPr>
          <p:cNvPicPr>
            <a:picLocks noGrp="1" noChangeAspect="1"/>
          </p:cNvPicPr>
          <p:nvPr>
            <p:ph idx="1"/>
          </p:nvPr>
        </p:nvPicPr>
        <p:blipFill>
          <a:blip r:embed="rId3"/>
          <a:stretch>
            <a:fillRect/>
          </a:stretch>
        </p:blipFill>
        <p:spPr>
          <a:xfrm>
            <a:off x="-94312" y="-92363"/>
            <a:ext cx="1062182" cy="1062182"/>
          </a:xfrm>
        </p:spPr>
      </p:pic>
      <p:sp>
        <p:nvSpPr>
          <p:cNvPr id="5" name="AutoShape 4" descr="Output image">
            <a:extLst>
              <a:ext uri="{FF2B5EF4-FFF2-40B4-BE49-F238E27FC236}">
                <a16:creationId xmlns:a16="http://schemas.microsoft.com/office/drawing/2014/main" id="{F8B77C53-D68D-7DB9-5C91-A65C30A3880B}"/>
              </a:ext>
            </a:extLst>
          </p:cNvPr>
          <p:cNvSpPr>
            <a:spLocks noChangeAspect="1" noChangeArrowheads="1"/>
          </p:cNvSpPr>
          <p:nvPr/>
        </p:nvSpPr>
        <p:spPr bwMode="auto">
          <a:xfrm>
            <a:off x="5532120" y="3150877"/>
            <a:ext cx="6659880" cy="328484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11" name="Table 10">
            <a:extLst>
              <a:ext uri="{FF2B5EF4-FFF2-40B4-BE49-F238E27FC236}">
                <a16:creationId xmlns:a16="http://schemas.microsoft.com/office/drawing/2014/main" id="{1FB79E7C-A503-FE75-5B03-B4FAD0DA0DA4}"/>
              </a:ext>
            </a:extLst>
          </p:cNvPr>
          <p:cNvGraphicFramePr>
            <a:graphicFrameLocks noGrp="1"/>
          </p:cNvGraphicFramePr>
          <p:nvPr>
            <p:extLst>
              <p:ext uri="{D42A27DB-BD31-4B8C-83A1-F6EECF244321}">
                <p14:modId xmlns:p14="http://schemas.microsoft.com/office/powerpoint/2010/main" val="3015021258"/>
              </p:ext>
            </p:extLst>
          </p:nvPr>
        </p:nvGraphicFramePr>
        <p:xfrm>
          <a:off x="759124" y="969819"/>
          <a:ext cx="10534448" cy="2671372"/>
        </p:xfrm>
        <a:graphic>
          <a:graphicData uri="http://schemas.openxmlformats.org/drawingml/2006/table">
            <a:tbl>
              <a:tblPr/>
              <a:tblGrid>
                <a:gridCol w="2443992">
                  <a:extLst>
                    <a:ext uri="{9D8B030D-6E8A-4147-A177-3AD203B41FA5}">
                      <a16:colId xmlns:a16="http://schemas.microsoft.com/office/drawing/2014/main" val="2377198613"/>
                    </a:ext>
                  </a:extLst>
                </a:gridCol>
                <a:gridCol w="3989045">
                  <a:extLst>
                    <a:ext uri="{9D8B030D-6E8A-4147-A177-3AD203B41FA5}">
                      <a16:colId xmlns:a16="http://schemas.microsoft.com/office/drawing/2014/main" val="1476273497"/>
                    </a:ext>
                  </a:extLst>
                </a:gridCol>
                <a:gridCol w="4101411">
                  <a:extLst>
                    <a:ext uri="{9D8B030D-6E8A-4147-A177-3AD203B41FA5}">
                      <a16:colId xmlns:a16="http://schemas.microsoft.com/office/drawing/2014/main" val="259600288"/>
                    </a:ext>
                  </a:extLst>
                </a:gridCol>
              </a:tblGrid>
              <a:tr h="389216">
                <a:tc>
                  <a:txBody>
                    <a:bodyPr/>
                    <a:lstStyle/>
                    <a:p>
                      <a:pPr algn="l" fontAlgn="b"/>
                      <a:r>
                        <a:rPr lang="en-US" sz="2200" b="1" i="0" u="none" strike="noStrike" dirty="0">
                          <a:solidFill>
                            <a:srgbClr val="000000"/>
                          </a:solidFill>
                          <a:effectLst/>
                          <a:latin typeface="Times New Roman" panose="02020603050405020304" pitchFamily="18" charset="0"/>
                          <a:cs typeface="Times New Roman" panose="02020603050405020304" pitchFamily="18" charset="0"/>
                        </a:rPr>
                        <a:t>P100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r>
                        <a:rPr lang="en-US" sz="2200" b="1" i="0" u="none" strike="noStrike">
                          <a:solidFill>
                            <a:srgbClr val="000000"/>
                          </a:solidFill>
                          <a:effectLst/>
                          <a:latin typeface="Times New Roman" panose="02020603050405020304" pitchFamily="18" charset="0"/>
                          <a:cs typeface="Times New Roman" panose="02020603050405020304" pitchFamily="18" charset="0"/>
                        </a:rPr>
                        <a:t>B1</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r>
                        <a:rPr lang="en-US" sz="2200" b="1" i="0" u="none" strike="noStrike">
                          <a:solidFill>
                            <a:srgbClr val="000000"/>
                          </a:solidFill>
                          <a:effectLst/>
                          <a:latin typeface="Times New Roman" panose="02020603050405020304" pitchFamily="18" charset="0"/>
                          <a:cs typeface="Times New Roman" panose="02020603050405020304" pitchFamily="18" charset="0"/>
                        </a:rPr>
                        <a:t>B4</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86576343"/>
                  </a:ext>
                </a:extLst>
              </a:tr>
              <a:tr h="378588">
                <a:tc>
                  <a:txBody>
                    <a:bodyPr/>
                    <a:lstStyle/>
                    <a:p>
                      <a:pPr algn="l" fontAlgn="b"/>
                      <a:r>
                        <a:rPr lang="en-US" sz="2200" b="1" i="0" u="none" strike="noStrike">
                          <a:solidFill>
                            <a:srgbClr val="000000"/>
                          </a:solidFill>
                          <a:effectLst/>
                          <a:latin typeface="Times New Roman" panose="02020603050405020304" pitchFamily="18" charset="0"/>
                          <a:cs typeface="Times New Roman" panose="02020603050405020304" pitchFamily="18" charset="0"/>
                        </a:rPr>
                        <a:t>Temperature</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dirty="0">
                          <a:solidFill>
                            <a:srgbClr val="000000"/>
                          </a:solidFill>
                          <a:effectLst/>
                          <a:latin typeface="Times New Roman" panose="02020603050405020304" pitchFamily="18" charset="0"/>
                          <a:cs typeface="Times New Roman" panose="02020603050405020304" pitchFamily="18" charset="0"/>
                        </a:rPr>
                        <a:t>52 - 54 °C stable</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a:solidFill>
                            <a:srgbClr val="000000"/>
                          </a:solidFill>
                          <a:effectLst/>
                          <a:latin typeface="Times New Roman" panose="02020603050405020304" pitchFamily="18" charset="0"/>
                          <a:cs typeface="Times New Roman" panose="02020603050405020304" pitchFamily="18" charset="0"/>
                        </a:rPr>
                        <a:t>63 - 64 °C stable</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09206297"/>
                  </a:ext>
                </a:extLst>
              </a:tr>
              <a:tr h="378588">
                <a:tc>
                  <a:txBody>
                    <a:bodyPr/>
                    <a:lstStyle/>
                    <a:p>
                      <a:pPr algn="l" fontAlgn="b"/>
                      <a:r>
                        <a:rPr lang="en-US" sz="2200" b="1" i="0" u="none" strike="noStrike">
                          <a:solidFill>
                            <a:srgbClr val="000000"/>
                          </a:solidFill>
                          <a:effectLst/>
                          <a:latin typeface="Times New Roman" panose="02020603050405020304" pitchFamily="18" charset="0"/>
                          <a:cs typeface="Times New Roman" panose="02020603050405020304" pitchFamily="18" charset="0"/>
                        </a:rPr>
                        <a:t>Power</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dirty="0">
                          <a:solidFill>
                            <a:srgbClr val="000000"/>
                          </a:solidFill>
                          <a:effectLst/>
                          <a:latin typeface="Times New Roman" panose="02020603050405020304" pitchFamily="18" charset="0"/>
                          <a:cs typeface="Times New Roman" panose="02020603050405020304" pitchFamily="18" charset="0"/>
                        </a:rPr>
                        <a:t>100 - 130W, lower overall</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a:solidFill>
                            <a:srgbClr val="000000"/>
                          </a:solidFill>
                          <a:effectLst/>
                          <a:latin typeface="Times New Roman" panose="02020603050405020304" pitchFamily="18" charset="0"/>
                          <a:cs typeface="Times New Roman" panose="02020603050405020304" pitchFamily="18" charset="0"/>
                        </a:rPr>
                        <a:t>140 - 170W, more power draw</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21093748"/>
                  </a:ext>
                </a:extLst>
              </a:tr>
              <a:tr h="378588">
                <a:tc>
                  <a:txBody>
                    <a:bodyPr/>
                    <a:lstStyle/>
                    <a:p>
                      <a:pPr algn="l" fontAlgn="b"/>
                      <a:r>
                        <a:rPr lang="en-US" sz="2200" b="1" i="0" u="none" strike="noStrike">
                          <a:solidFill>
                            <a:srgbClr val="000000"/>
                          </a:solidFill>
                          <a:effectLst/>
                          <a:latin typeface="Times New Roman" panose="02020603050405020304" pitchFamily="18" charset="0"/>
                          <a:cs typeface="Times New Roman" panose="02020603050405020304" pitchFamily="18" charset="0"/>
                        </a:rPr>
                        <a:t>Memory Utilization</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a:solidFill>
                            <a:srgbClr val="000000"/>
                          </a:solidFill>
                          <a:effectLst/>
                          <a:latin typeface="Times New Roman" panose="02020603050405020304" pitchFamily="18" charset="0"/>
                          <a:cs typeface="Times New Roman" panose="02020603050405020304" pitchFamily="18" charset="0"/>
                        </a:rPr>
                        <a:t>22 - 26%</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a:solidFill>
                            <a:srgbClr val="000000"/>
                          </a:solidFill>
                          <a:effectLst/>
                          <a:latin typeface="Times New Roman" panose="02020603050405020304" pitchFamily="18" charset="0"/>
                          <a:cs typeface="Times New Roman" panose="02020603050405020304" pitchFamily="18" charset="0"/>
                        </a:rPr>
                        <a:t>26 - 27%</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12304372"/>
                  </a:ext>
                </a:extLst>
              </a:tr>
              <a:tr h="378588">
                <a:tc>
                  <a:txBody>
                    <a:bodyPr/>
                    <a:lstStyle/>
                    <a:p>
                      <a:pPr algn="l" fontAlgn="b"/>
                      <a:r>
                        <a:rPr lang="en-US" sz="2200" b="1" i="0" u="none" strike="noStrike">
                          <a:solidFill>
                            <a:srgbClr val="000000"/>
                          </a:solidFill>
                          <a:effectLst/>
                          <a:latin typeface="Times New Roman" panose="02020603050405020304" pitchFamily="18" charset="0"/>
                          <a:cs typeface="Times New Roman" panose="02020603050405020304" pitchFamily="18" charset="0"/>
                        </a:rPr>
                        <a:t>Memory Used</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a:solidFill>
                            <a:srgbClr val="000000"/>
                          </a:solidFill>
                          <a:effectLst/>
                          <a:latin typeface="Times New Roman" panose="02020603050405020304" pitchFamily="18" charset="0"/>
                          <a:cs typeface="Times New Roman" panose="02020603050405020304" pitchFamily="18" charset="0"/>
                        </a:rPr>
                        <a:t>1900 MiB</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a:solidFill>
                            <a:srgbClr val="000000"/>
                          </a:solidFill>
                          <a:effectLst/>
                          <a:latin typeface="Times New Roman" panose="02020603050405020304" pitchFamily="18" charset="0"/>
                          <a:cs typeface="Times New Roman" panose="02020603050405020304" pitchFamily="18" charset="0"/>
                        </a:rPr>
                        <a:t>3600 MiB</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78708862"/>
                  </a:ext>
                </a:extLst>
              </a:tr>
              <a:tr h="378588">
                <a:tc>
                  <a:txBody>
                    <a:bodyPr/>
                    <a:lstStyle/>
                    <a:p>
                      <a:pPr algn="l" fontAlgn="b"/>
                      <a:r>
                        <a:rPr lang="en-US" sz="2200" b="1" i="0" u="none" strike="noStrike">
                          <a:solidFill>
                            <a:srgbClr val="000000"/>
                          </a:solidFill>
                          <a:effectLst/>
                          <a:latin typeface="Times New Roman" panose="02020603050405020304" pitchFamily="18" charset="0"/>
                          <a:cs typeface="Times New Roman" panose="02020603050405020304" pitchFamily="18" charset="0"/>
                        </a:rPr>
                        <a:t>GPU Utilization</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a:solidFill>
                            <a:srgbClr val="000000"/>
                          </a:solidFill>
                          <a:effectLst/>
                          <a:latin typeface="Times New Roman" panose="02020603050405020304" pitchFamily="18" charset="0"/>
                          <a:cs typeface="Times New Roman" panose="02020603050405020304" pitchFamily="18" charset="0"/>
                        </a:rPr>
                        <a:t>90 - 95%</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a:solidFill>
                            <a:srgbClr val="000000"/>
                          </a:solidFill>
                          <a:effectLst/>
                          <a:latin typeface="Times New Roman" panose="02020603050405020304" pitchFamily="18" charset="0"/>
                          <a:cs typeface="Times New Roman" panose="02020603050405020304" pitchFamily="18" charset="0"/>
                        </a:rPr>
                        <a:t>92  - 96%</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83112163"/>
                  </a:ext>
                </a:extLst>
              </a:tr>
              <a:tr h="389216">
                <a:tc>
                  <a:txBody>
                    <a:bodyPr/>
                    <a:lstStyle/>
                    <a:p>
                      <a:pPr algn="l" fontAlgn="b"/>
                      <a:r>
                        <a:rPr lang="en-US" sz="2200" b="1" i="0" u="none" strike="noStrike" dirty="0">
                          <a:solidFill>
                            <a:srgbClr val="000000"/>
                          </a:solidFill>
                          <a:effectLst/>
                          <a:latin typeface="Times New Roman" panose="02020603050405020304" pitchFamily="18" charset="0"/>
                          <a:cs typeface="Times New Roman" panose="02020603050405020304" pitchFamily="18" charset="0"/>
                        </a:rPr>
                        <a:t>Clock</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a:solidFill>
                            <a:srgbClr val="000000"/>
                          </a:solidFill>
                          <a:effectLst/>
                          <a:latin typeface="Times New Roman" panose="02020603050405020304" pitchFamily="18" charset="0"/>
                          <a:cs typeface="Times New Roman" panose="02020603050405020304" pitchFamily="18" charset="0"/>
                        </a:rPr>
                        <a:t>1300 MHz, stable</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dirty="0">
                          <a:solidFill>
                            <a:srgbClr val="000000"/>
                          </a:solidFill>
                          <a:effectLst/>
                          <a:latin typeface="Times New Roman" panose="02020603050405020304" pitchFamily="18" charset="0"/>
                          <a:cs typeface="Times New Roman" panose="02020603050405020304" pitchFamily="18" charset="0"/>
                        </a:rPr>
                        <a:t>1300 MHz, stable</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49720854"/>
                  </a:ext>
                </a:extLst>
              </a:tr>
            </a:tbl>
          </a:graphicData>
        </a:graphic>
      </p:graphicFrame>
      <p:graphicFrame>
        <p:nvGraphicFramePr>
          <p:cNvPr id="2" name="Table 1">
            <a:extLst>
              <a:ext uri="{FF2B5EF4-FFF2-40B4-BE49-F238E27FC236}">
                <a16:creationId xmlns:a16="http://schemas.microsoft.com/office/drawing/2014/main" id="{5DDEC009-C867-88F9-BEC7-C080AB26C10C}"/>
              </a:ext>
            </a:extLst>
          </p:cNvPr>
          <p:cNvGraphicFramePr>
            <a:graphicFrameLocks noGrp="1"/>
          </p:cNvGraphicFramePr>
          <p:nvPr>
            <p:extLst>
              <p:ext uri="{D42A27DB-BD31-4B8C-83A1-F6EECF244321}">
                <p14:modId xmlns:p14="http://schemas.microsoft.com/office/powerpoint/2010/main" val="205628584"/>
              </p:ext>
            </p:extLst>
          </p:nvPr>
        </p:nvGraphicFramePr>
        <p:xfrm>
          <a:off x="714829" y="3793590"/>
          <a:ext cx="10631782" cy="2828173"/>
        </p:xfrm>
        <a:graphic>
          <a:graphicData uri="http://schemas.openxmlformats.org/drawingml/2006/table">
            <a:tbl>
              <a:tblPr/>
              <a:tblGrid>
                <a:gridCol w="2466573">
                  <a:extLst>
                    <a:ext uri="{9D8B030D-6E8A-4147-A177-3AD203B41FA5}">
                      <a16:colId xmlns:a16="http://schemas.microsoft.com/office/drawing/2014/main" val="3375421121"/>
                    </a:ext>
                  </a:extLst>
                </a:gridCol>
                <a:gridCol w="4025901">
                  <a:extLst>
                    <a:ext uri="{9D8B030D-6E8A-4147-A177-3AD203B41FA5}">
                      <a16:colId xmlns:a16="http://schemas.microsoft.com/office/drawing/2014/main" val="3974720268"/>
                    </a:ext>
                  </a:extLst>
                </a:gridCol>
                <a:gridCol w="4139308">
                  <a:extLst>
                    <a:ext uri="{9D8B030D-6E8A-4147-A177-3AD203B41FA5}">
                      <a16:colId xmlns:a16="http://schemas.microsoft.com/office/drawing/2014/main" val="2800887918"/>
                    </a:ext>
                  </a:extLst>
                </a:gridCol>
              </a:tblGrid>
              <a:tr h="403043">
                <a:tc>
                  <a:txBody>
                    <a:bodyPr/>
                    <a:lstStyle/>
                    <a:p>
                      <a:pPr algn="l" fontAlgn="b"/>
                      <a:r>
                        <a:rPr lang="en-US" sz="2200" b="1" i="0" u="none" strike="noStrike">
                          <a:solidFill>
                            <a:srgbClr val="000000"/>
                          </a:solidFill>
                          <a:effectLst/>
                          <a:latin typeface="Times New Roman" panose="02020603050405020304" pitchFamily="18" charset="0"/>
                          <a:cs typeface="Times New Roman" panose="02020603050405020304" pitchFamily="18" charset="0"/>
                        </a:rPr>
                        <a:t>V100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r>
                        <a:rPr lang="en-US" sz="2200" b="1" i="0" u="none" strike="noStrike">
                          <a:solidFill>
                            <a:srgbClr val="000000"/>
                          </a:solidFill>
                          <a:effectLst/>
                          <a:latin typeface="Times New Roman" panose="02020603050405020304" pitchFamily="18" charset="0"/>
                          <a:cs typeface="Times New Roman" panose="02020603050405020304" pitchFamily="18" charset="0"/>
                        </a:rPr>
                        <a:t>B1</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r>
                        <a:rPr lang="en-US" sz="2200" b="1" i="0" u="none" strike="noStrike">
                          <a:solidFill>
                            <a:srgbClr val="000000"/>
                          </a:solidFill>
                          <a:effectLst/>
                          <a:latin typeface="Times New Roman" panose="02020603050405020304" pitchFamily="18" charset="0"/>
                          <a:cs typeface="Times New Roman" panose="02020603050405020304" pitchFamily="18" charset="0"/>
                        </a:rPr>
                        <a:t>B4</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53029690"/>
                  </a:ext>
                </a:extLst>
              </a:tr>
              <a:tr h="392039">
                <a:tc>
                  <a:txBody>
                    <a:bodyPr/>
                    <a:lstStyle/>
                    <a:p>
                      <a:pPr algn="l" fontAlgn="b"/>
                      <a:r>
                        <a:rPr lang="en-US" sz="2200" b="1" i="0" u="none" strike="noStrike" dirty="0">
                          <a:solidFill>
                            <a:srgbClr val="000000"/>
                          </a:solidFill>
                          <a:effectLst/>
                          <a:latin typeface="Times New Roman" panose="02020603050405020304" pitchFamily="18" charset="0"/>
                          <a:cs typeface="Times New Roman" panose="02020603050405020304" pitchFamily="18" charset="0"/>
                        </a:rPr>
                        <a:t>Temperature</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a:solidFill>
                            <a:srgbClr val="000000"/>
                          </a:solidFill>
                          <a:effectLst/>
                          <a:latin typeface="Times New Roman" panose="02020603050405020304" pitchFamily="18" charset="0"/>
                          <a:cs typeface="Times New Roman" panose="02020603050405020304" pitchFamily="18" charset="0"/>
                        </a:rPr>
                        <a:t>63 - 64 °C stable</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a:solidFill>
                            <a:srgbClr val="000000"/>
                          </a:solidFill>
                          <a:effectLst/>
                          <a:latin typeface="Times New Roman" panose="02020603050405020304" pitchFamily="18" charset="0"/>
                          <a:cs typeface="Times New Roman" panose="02020603050405020304" pitchFamily="18" charset="0"/>
                        </a:rPr>
                        <a:t>64 - 66 °C fluctuating</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58711960"/>
                  </a:ext>
                </a:extLst>
              </a:tr>
              <a:tr h="392039">
                <a:tc>
                  <a:txBody>
                    <a:bodyPr/>
                    <a:lstStyle/>
                    <a:p>
                      <a:pPr algn="l" fontAlgn="b"/>
                      <a:r>
                        <a:rPr lang="en-US" sz="2200" b="1" i="0" u="none" strike="noStrike">
                          <a:solidFill>
                            <a:srgbClr val="000000"/>
                          </a:solidFill>
                          <a:effectLst/>
                          <a:latin typeface="Times New Roman" panose="02020603050405020304" pitchFamily="18" charset="0"/>
                          <a:cs typeface="Times New Roman" panose="02020603050405020304" pitchFamily="18" charset="0"/>
                        </a:rPr>
                        <a:t>Power</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dirty="0">
                          <a:solidFill>
                            <a:srgbClr val="000000"/>
                          </a:solidFill>
                          <a:effectLst/>
                          <a:latin typeface="Times New Roman" panose="02020603050405020304" pitchFamily="18" charset="0"/>
                          <a:cs typeface="Times New Roman" panose="02020603050405020304" pitchFamily="18" charset="0"/>
                        </a:rPr>
                        <a:t>170 - 190 W, more stable</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a:solidFill>
                            <a:srgbClr val="000000"/>
                          </a:solidFill>
                          <a:effectLst/>
                          <a:latin typeface="Times New Roman" panose="02020603050405020304" pitchFamily="18" charset="0"/>
                          <a:cs typeface="Times New Roman" panose="02020603050405020304" pitchFamily="18" charset="0"/>
                        </a:rPr>
                        <a:t>250 - 300W, more spikes</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85620689"/>
                  </a:ext>
                </a:extLst>
              </a:tr>
              <a:tr h="453931">
                <a:tc>
                  <a:txBody>
                    <a:bodyPr/>
                    <a:lstStyle/>
                    <a:p>
                      <a:pPr algn="l" fontAlgn="b"/>
                      <a:r>
                        <a:rPr lang="en-US" sz="2200" b="1" i="0" u="none" strike="noStrike">
                          <a:solidFill>
                            <a:srgbClr val="000000"/>
                          </a:solidFill>
                          <a:effectLst/>
                          <a:latin typeface="Times New Roman" panose="02020603050405020304" pitchFamily="18" charset="0"/>
                          <a:cs typeface="Times New Roman" panose="02020603050405020304" pitchFamily="18" charset="0"/>
                        </a:rPr>
                        <a:t>Memory Utilization</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dirty="0">
                          <a:solidFill>
                            <a:srgbClr val="000000"/>
                          </a:solidFill>
                          <a:effectLst/>
                          <a:latin typeface="Times New Roman" panose="02020603050405020304" pitchFamily="18" charset="0"/>
                          <a:cs typeface="Times New Roman" panose="02020603050405020304" pitchFamily="18" charset="0"/>
                        </a:rPr>
                        <a:t>35 - 37%</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a:solidFill>
                            <a:srgbClr val="000000"/>
                          </a:solidFill>
                          <a:effectLst/>
                          <a:latin typeface="Times New Roman" panose="02020603050405020304" pitchFamily="18" charset="0"/>
                          <a:cs typeface="Times New Roman" panose="02020603050405020304" pitchFamily="18" charset="0"/>
                        </a:rPr>
                        <a:t>44 - 46%</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40274833"/>
                  </a:ext>
                </a:extLst>
              </a:tr>
              <a:tr h="392039">
                <a:tc>
                  <a:txBody>
                    <a:bodyPr/>
                    <a:lstStyle/>
                    <a:p>
                      <a:pPr algn="l" fontAlgn="b"/>
                      <a:r>
                        <a:rPr lang="en-US" sz="2200" b="1" i="0" u="none" strike="noStrike">
                          <a:solidFill>
                            <a:srgbClr val="000000"/>
                          </a:solidFill>
                          <a:effectLst/>
                          <a:latin typeface="Times New Roman" panose="02020603050405020304" pitchFamily="18" charset="0"/>
                          <a:cs typeface="Times New Roman" panose="02020603050405020304" pitchFamily="18" charset="0"/>
                        </a:rPr>
                        <a:t>Memory Used</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a:solidFill>
                            <a:srgbClr val="000000"/>
                          </a:solidFill>
                          <a:effectLst/>
                          <a:latin typeface="Times New Roman" panose="02020603050405020304" pitchFamily="18" charset="0"/>
                          <a:cs typeface="Times New Roman" panose="02020603050405020304" pitchFamily="18" charset="0"/>
                        </a:rPr>
                        <a:t>1900 MiB</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a:solidFill>
                            <a:srgbClr val="000000"/>
                          </a:solidFill>
                          <a:effectLst/>
                          <a:latin typeface="Times New Roman" panose="02020603050405020304" pitchFamily="18" charset="0"/>
                          <a:cs typeface="Times New Roman" panose="02020603050405020304" pitchFamily="18" charset="0"/>
                        </a:rPr>
                        <a:t>3400 MiB</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78251568"/>
                  </a:ext>
                </a:extLst>
              </a:tr>
              <a:tr h="392039">
                <a:tc>
                  <a:txBody>
                    <a:bodyPr/>
                    <a:lstStyle/>
                    <a:p>
                      <a:pPr algn="l" fontAlgn="b"/>
                      <a:r>
                        <a:rPr lang="en-US" sz="2200" b="1" i="0" u="none" strike="noStrike">
                          <a:solidFill>
                            <a:srgbClr val="000000"/>
                          </a:solidFill>
                          <a:effectLst/>
                          <a:latin typeface="Times New Roman" panose="02020603050405020304" pitchFamily="18" charset="0"/>
                          <a:cs typeface="Times New Roman" panose="02020603050405020304" pitchFamily="18" charset="0"/>
                        </a:rPr>
                        <a:t>GPU Utilization</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a:solidFill>
                            <a:srgbClr val="000000"/>
                          </a:solidFill>
                          <a:effectLst/>
                          <a:latin typeface="Times New Roman" panose="02020603050405020304" pitchFamily="18" charset="0"/>
                          <a:cs typeface="Times New Roman" panose="02020603050405020304" pitchFamily="18" charset="0"/>
                        </a:rPr>
                        <a:t>85 - 90%, fewer drops</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a:solidFill>
                            <a:srgbClr val="000000"/>
                          </a:solidFill>
                          <a:effectLst/>
                          <a:latin typeface="Times New Roman" panose="02020603050405020304" pitchFamily="18" charset="0"/>
                          <a:cs typeface="Times New Roman" panose="02020603050405020304" pitchFamily="18" charset="0"/>
                        </a:rPr>
                        <a:t>92 - 95%, frequent spikes</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60655346"/>
                  </a:ext>
                </a:extLst>
              </a:tr>
              <a:tr h="403043">
                <a:tc>
                  <a:txBody>
                    <a:bodyPr/>
                    <a:lstStyle/>
                    <a:p>
                      <a:pPr algn="l" fontAlgn="b"/>
                      <a:r>
                        <a:rPr lang="en-US" sz="2200" b="1" i="0" u="none" strike="noStrike">
                          <a:solidFill>
                            <a:srgbClr val="000000"/>
                          </a:solidFill>
                          <a:effectLst/>
                          <a:latin typeface="Times New Roman" panose="02020603050405020304" pitchFamily="18" charset="0"/>
                          <a:cs typeface="Times New Roman" panose="02020603050405020304" pitchFamily="18" charset="0"/>
                        </a:rPr>
                        <a:t>Clock</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a:solidFill>
                            <a:srgbClr val="000000"/>
                          </a:solidFill>
                          <a:effectLst/>
                          <a:latin typeface="Times New Roman" panose="02020603050405020304" pitchFamily="18" charset="0"/>
                          <a:cs typeface="Times New Roman" panose="02020603050405020304" pitchFamily="18" charset="0"/>
                        </a:rPr>
                        <a:t>1530 MHz, slightly lower</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r>
                        <a:rPr lang="en-US" sz="2200" b="0" i="0" u="none" strike="noStrike" dirty="0">
                          <a:solidFill>
                            <a:srgbClr val="000000"/>
                          </a:solidFill>
                          <a:effectLst/>
                          <a:latin typeface="Times New Roman" panose="02020603050405020304" pitchFamily="18" charset="0"/>
                          <a:cs typeface="Times New Roman" panose="02020603050405020304" pitchFamily="18" charset="0"/>
                        </a:rPr>
                        <a:t>1530 MHz, stable at max</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21673465"/>
                  </a:ext>
                </a:extLst>
              </a:tr>
            </a:tbl>
          </a:graphicData>
        </a:graphic>
      </p:graphicFrame>
    </p:spTree>
    <p:extLst>
      <p:ext uri="{BB962C8B-B14F-4D97-AF65-F5344CB8AC3E}">
        <p14:creationId xmlns:p14="http://schemas.microsoft.com/office/powerpoint/2010/main" val="23353377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EECE5640_ProjectPresentation_Jashwanth&amp;Kabhilesh" id="{12F5012A-5EF6-D046-9570-F958A134775D}" vid="{2C274E94-0060-EE46-B96D-CB1C44797BED}"/>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EECE5640_ProjectPresentation_Jashwanth&amp;Kabhilesh" id="{12F5012A-5EF6-D046-9570-F958A134775D}" vid="{0DC49279-F7AB-0C46-952E-9DEB6D6160D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300</TotalTime>
  <Words>1528</Words>
  <Application>Microsoft Office PowerPoint</Application>
  <PresentationFormat>Widescreen</PresentationFormat>
  <Paragraphs>239</Paragraphs>
  <Slides>17</Slides>
  <Notes>16</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17</vt:i4>
      </vt:variant>
    </vt:vector>
  </HeadingPairs>
  <TitlesOfParts>
    <vt:vector size="25" baseType="lpstr">
      <vt:lpstr>Aptos</vt:lpstr>
      <vt:lpstr>Aptos Display</vt:lpstr>
      <vt:lpstr>Arial</vt:lpstr>
      <vt:lpstr>Courier New</vt:lpstr>
      <vt:lpstr>Times New Roman</vt:lpstr>
      <vt:lpstr>Wingdings</vt:lpstr>
      <vt:lpstr>Office Theme</vt:lpstr>
      <vt:lpstr>Custom Design</vt:lpstr>
      <vt:lpstr>Analysis and Evaluation of GPU Utilization During Training of Deep-Filter-Net and Wave-U-Net Models for Edge Transfer Learning </vt:lpstr>
      <vt:lpstr>Preface</vt:lpstr>
      <vt:lpstr>Overview</vt:lpstr>
      <vt:lpstr>Key GPU Performance Metrics for Evaluating Deep Learning Models</vt:lpstr>
      <vt:lpstr>Hardware Configuration &amp; Compute Resources</vt:lpstr>
      <vt:lpstr>DeepFilterNet</vt:lpstr>
      <vt:lpstr>Progress &amp; Insights - DeepFilterNet</vt:lpstr>
      <vt:lpstr>Continued ..</vt:lpstr>
      <vt:lpstr>Continued ..</vt:lpstr>
      <vt:lpstr>Continued ..</vt:lpstr>
      <vt:lpstr>DFN GPU Utilization Summary</vt:lpstr>
      <vt:lpstr>Wave U Net</vt:lpstr>
      <vt:lpstr>Continued .. V100 Analysis</vt:lpstr>
      <vt:lpstr>Continued ..</vt:lpstr>
      <vt:lpstr>Continued .. P100 Analysis</vt:lpstr>
      <vt:lpstr>Continued .. P100 Analysis</vt:lpstr>
      <vt:lpstr>Final Comparison : P100 vs V100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Jashwanth Meganathan</dc:creator>
  <cp:lastModifiedBy>Kabhilesh Giri</cp:lastModifiedBy>
  <cp:revision>39</cp:revision>
  <dcterms:created xsi:type="dcterms:W3CDTF">2025-04-10T16:55:37Z</dcterms:created>
  <dcterms:modified xsi:type="dcterms:W3CDTF">2025-04-15T01:30:51Z</dcterms:modified>
</cp:coreProperties>
</file>